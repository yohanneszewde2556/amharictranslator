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275588"/>
            <a:ext cx="457200" cy="1463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322930"/>
            <a:ext cx="457200" cy="1005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3773729"/>
            <a:ext cx="457200" cy="1463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3738" y="1411834"/>
            <a:ext cx="7863840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Breaking Language Barriers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92124" y="2105863"/>
            <a:ext cx="7159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Amharic–English Neural Machine Translation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3394" y="2611526"/>
            <a:ext cx="4215384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 1–3 Complete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0537" y="3097073"/>
            <a:ext cx="893369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Nyala" pitchFamily="34" charset="0"/>
                <a:ea typeface="Nyala" pitchFamily="34" charset="-122"/>
                <a:cs typeface="Nyala" pitchFamily="34" charset="-120"/>
              </a:rPr>
              <a:t>ሀዋዋማ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2526" y="3097073"/>
            <a:ext cx="112837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04795" y="3921862"/>
            <a:ext cx="3735324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Yohannes Zewde · IT Student &amp; ML Intern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Demystifying ML and NLP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9554" y="1282903"/>
            <a:ext cx="4188866" cy="360730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" y="1468526"/>
            <a:ext cx="319126" cy="31912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139" y="1522476"/>
            <a:ext cx="322783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532" y="1925726"/>
            <a:ext cx="2461565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" y="2314346"/>
            <a:ext cx="3522269" cy="820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word X, then word Y"—replaced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patterns from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" y="3289097"/>
            <a:ext cx="3281782" cy="65745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" y="3401568"/>
            <a:ext cx="3523183" cy="532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 tells the computer exactly what to do. Machine Learning takes a different approach—we provide the model with thousands of examples and let it discover the patterns on its own.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5794" y="1282903"/>
            <a:ext cx="4181551" cy="3604565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34686" y="1468526"/>
            <a:ext cx="319126" cy="31912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6690" y="1529791"/>
            <a:ext cx="387706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33772" y="1925726"/>
            <a:ext cx="40233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 Language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33772" y="2314346"/>
            <a:ext cx="3910889" cy="1149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AI that gives computers the ability to understand text and spoken words in much the same way human beings can.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34686" y="3586277"/>
            <a:ext cx="3281782" cy="65745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3772" y="3698748"/>
            <a:ext cx="3969410" cy="532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summarizing, translating—all powered by NLP.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9554" y="1282903"/>
            <a:ext cx="4188866" cy="360730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" y="1468526"/>
            <a:ext cx="319126" cy="319126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" y="1529791"/>
            <a:ext cx="22860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1522476"/>
            <a:ext cx="22860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Seq2Seq Transformer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" y="1925726"/>
            <a:ext cx="320040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in PyTorch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" y="2314346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architecture powering AI like ChatGPT and Google Translate. We built it ourselves using PyTorch’s nn.Transformer, implementing positional encoding, multi-head attention, encoder-decoder layers, and beam search decoding from the ground up.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34686" y="3586277"/>
            <a:ext cx="3281782" cy="65745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3772" y="3698748"/>
            <a:ext cx="3969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74M parameters · d_model=512 · 6 encoder + 6 decoder layers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KEY CONCEPTS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Translation Tech &amp; Key Concepts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231697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726" y="1231697"/>
            <a:ext cx="54864" cy="1176833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4886" y="1368857"/>
            <a:ext cx="7772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Machine Translation (NMT)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4886" y="1661465"/>
            <a:ext cx="77724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artificial, brain-like networks to translate text. It understands whole-sentence context—not just word-by-word substitution. Modern NMT is powered by the Transformer architecture.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7726" y="2537460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726" y="2537460"/>
            <a:ext cx="54864" cy="1176833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6" y="2674620"/>
            <a:ext cx="7772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Low-Resource 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4886" y="2967228"/>
            <a:ext cx="77724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that, despite having millions of speakers (like Amharic with 30M+), has very little digitized, translated data available on the internet to train AI systems effectively.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7726" y="3843223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6" y="3843223"/>
            <a:ext cx="54864" cy="1176833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6" y="3980383"/>
            <a:ext cx="7772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Parallel Corpus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886" y="4272991"/>
            <a:ext cx="77724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"dictionary" for AI. A massive dataset where every Amharic sentence has an exact English equivalent next to it—the foundation of our 380K+ pair collection.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Advanced Vocabulary (Simplified)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9087" y="1054303"/>
            <a:ext cx="4294022" cy="2260397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726" y="1369771"/>
            <a:ext cx="320040" cy="3200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559" y="1401775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2726" y="1369771"/>
            <a:ext cx="39282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2726" y="1767535"/>
            <a:ext cx="3928262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“Engine”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2726" y="2124151"/>
            <a:ext cx="3836822" cy="980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architecture powering AI like ChatGPT or Google Translate. We built a Seq2Seq Transformer from scratch in PyTorch—no pretrained weights.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2662" y="1078992"/>
            <a:ext cx="3738982" cy="223662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6302" y="1394460"/>
            <a:ext cx="320040" cy="32004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0134" y="142646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56302" y="1394460"/>
            <a:ext cx="337322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SENTENCEPIECE BPE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56302" y="1792224"/>
            <a:ext cx="3373222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Subword Tokenization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6302" y="2148840"/>
            <a:ext cx="3281782" cy="956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words into smaller subword pieces. Handles Amharic’s 200+ Ge’ez script characters with character_coverage=0.9995 and a 32K shared vocabulary.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9087" y="3396082"/>
            <a:ext cx="4286707" cy="167152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726" y="3711550"/>
            <a:ext cx="320040" cy="3200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" y="374355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2726" y="3711550"/>
            <a:ext cx="39209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SEQ2SEQ NMT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2726" y="4109314"/>
            <a:ext cx="3920947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2726" y="4465930"/>
            <a:ext cx="3829507" cy="391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fine-tuning a pretrained model, we implemented the full encoder-decoder architecture ourselves—positional encoding, attention, FFN, beam search.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2662" y="3426257"/>
            <a:ext cx="3743554" cy="1623974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6302" y="3741725"/>
            <a:ext cx="320040" cy="32004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0134" y="3773729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56302" y="3741725"/>
            <a:ext cx="33777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BLEU / chrF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56302" y="4139489"/>
            <a:ext cx="3377794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“Grade”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56302" y="4496105"/>
            <a:ext cx="3286354" cy="343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measures n-gram overlap; chrF adds character-level evaluation—critical for morphologically rich Amharic text.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231697"/>
            <a:ext cx="8114386" cy="1197864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6618" y="1379830"/>
            <a:ext cx="276149" cy="276149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089" y="1420063"/>
            <a:ext cx="12435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4732" y="1375258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Ultimate 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4732" y="1699870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highly accurate Amharic–English translation model and package it as a REST API—a bridge so other web and mobile apps can easily use our translator.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7726" y="2537460"/>
            <a:ext cx="8114386" cy="1197864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8" y="2685593"/>
            <a:ext cx="276149" cy="276149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9" y="2725826"/>
            <a:ext cx="12435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4732" y="2681021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Approach: Seq2Seq Transformer from Scratch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4732" y="3005633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required by supervisors, we are building a complete Transformer architecture from scratch in PyTorch—not fine-tuning a pretrained model. This gives us full control over the architecture, training, and optimization pipeline.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6" y="3843223"/>
            <a:ext cx="8114386" cy="1197864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8" y="3991356"/>
            <a:ext cx="276149" cy="276149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9" y="4031590"/>
            <a:ext cx="12435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4732" y="3986784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4732" y="4311396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has 30M+ speakers but is digitally underserved. Improving Amharic NMT removes educational and economic barriers for millions of Ethiopians.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DATA COLLECTION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Gathering the Building Blocks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-37490" y="1486814"/>
            <a:ext cx="8741664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Machine Learning, data is food. A model is only as smart as the examples it consumes.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103120"/>
            <a:ext cx="2743200" cy="201168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267712"/>
            <a:ext cx="27432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4963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2,000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463040" y="3364992"/>
            <a:ext cx="274320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pairs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743200" cy="201168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267712"/>
            <a:ext cx="27432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24963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19,000%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246120" y="3364992"/>
            <a:ext cx="274320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2743200" cy="201168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267712"/>
            <a:ext cx="27432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4963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380K+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029200" y="3364992"/>
            <a:ext cx="274320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pristine parallel pairs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0" cy="1737360"/>
          </a:xfrm>
          <a:prstGeom prst="line">
            <a:avLst/>
          </a:prstGeom>
          <a:noFill/>
          <a:ln w="12700">
            <a:solidFill>
              <a:srgbClr val="A5A5A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35040" y="2194560"/>
            <a:ext cx="0" cy="1737360"/>
          </a:xfrm>
          <a:prstGeom prst="line">
            <a:avLst/>
          </a:prstGeom>
          <a:noFill/>
          <a:ln w="12700">
            <a:solidFill>
              <a:srgbClr val="A5A5A5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DATA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Did the Data Come From?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340510"/>
            <a:ext cx="47549" cy="47549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0606" y="1240841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Religious Texts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0606" y="1525219"/>
            <a:ext cx="41148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Bible, JW300—highly consistent, professionally translated.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2526" y="1340510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5406" y="1240841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Legal &amp; Law Books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5406" y="1525219"/>
            <a:ext cx="41148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Strict, formal, and precise terminology.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7726" y="2718511"/>
            <a:ext cx="47549" cy="47549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6" y="2618842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Colloquial Datasets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0606" y="2903220"/>
            <a:ext cx="41148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text to teach the model how people actually speak.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2526" y="2718511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5406" y="2618842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Web-Scraped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5406" y="2903220"/>
            <a:ext cx="41148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/ Common Crawl—massive, varied internet text.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6" y="4096512"/>
            <a:ext cx="47549" cy="47549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606" y="3996842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News Articles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0606" y="4281221"/>
            <a:ext cx="41148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news for modern vocabulary &amp; current events.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ETHIOPIAN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&amp; Creative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231697"/>
            <a:ext cx="8048549" cy="1561795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726" y="1231697"/>
            <a:ext cx="54864" cy="1561795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" y="1400861"/>
            <a:ext cx="758952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Corporate Digital Services &amp; Apps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7532" y="1762049"/>
            <a:ext cx="7589520" cy="851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bilingual app localizations, user manuals, and Terms of Service from major local entities—Ethio Telecom / Telebirr, Commercial Bank of Ethiopia, Ethiopian Airlines. These companies maintain high-quality English and Amharic versions of identical text.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7726" y="2948026"/>
            <a:ext cx="8048549" cy="1561795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726" y="2948026"/>
            <a:ext cx="54864" cy="1561795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" y="3117190"/>
            <a:ext cx="758952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Media Subtitles &amp; Transcripts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" y="3478378"/>
            <a:ext cx="7589520" cy="851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transcripts from bilingual YouTube creators and closed-captioning files from local TV networks (Kana TV, EBS) that regularly translate international content.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627" y="1232611"/>
            <a:ext cx="3194914" cy="365760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0375" y="1389888"/>
            <a:ext cx="366674" cy="36667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2379" y="1466698"/>
            <a:ext cx="303581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7337" y="1868119"/>
            <a:ext cx="2351837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Languages &amp; Libraries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9069" y="2204618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 (nn.Transformer)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 &amp; NumPy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SentencePiece (BPE)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 (splitting)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HuggingFace datasets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1626" y="1232611"/>
            <a:ext cx="3194914" cy="365760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4374" y="1389888"/>
            <a:ext cx="366674" cy="36667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6378" y="1466698"/>
            <a:ext cx="303581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1336" y="1868119"/>
            <a:ext cx="2351837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&amp; 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3068" y="2204618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Seq2Seq Transformer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AdamW optimizer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Mixed Precision (AMP)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SacreBLEU / chrF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Beam Search decoding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padding (collate_fn)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18758" y="1232611"/>
            <a:ext cx="3194914" cy="365760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1506" y="1389888"/>
            <a:ext cx="366674" cy="36667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3510" y="1466698"/>
            <a:ext cx="303581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38467" y="1868119"/>
            <a:ext cx="2351837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DevOps &amp;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0199" y="2204618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(REST API)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&amp; 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Jupyter Notebooks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Weights &amp; Biases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QUALITY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“Garbage In, Garbage Out” Rule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790133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internet data is chaotic. If we feed the network bad grammar, mixed languages, or code snippets, it will learn to output garbage.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0158" y="2702966"/>
            <a:ext cx="6400800" cy="64008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" y="2702966"/>
            <a:ext cx="45720" cy="640080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57830"/>
            <a:ext cx="13716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013862"/>
            <a:ext cx="621792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symbols, missing rows, mixed languages, duplicates, code snippets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" y="3652114"/>
            <a:ext cx="6400800" cy="64008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" y="3652114"/>
            <a:ext cx="4572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706978"/>
            <a:ext cx="13716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3963010"/>
            <a:ext cx="621792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aligned Amharic–English sentence pairs ready for training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76388" y="2292401"/>
            <a:ext cx="102047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51699" y="2910535"/>
            <a:ext cx="790956" cy="400507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4579" y="2991917"/>
            <a:ext cx="6108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994" y="3618281"/>
            <a:ext cx="1095451" cy="257861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3642055"/>
            <a:ext cx="115123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Pairs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CLEANING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Cleanup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9554" y="1251814"/>
            <a:ext cx="3838651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" y="1369771"/>
            <a:ext cx="213238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PROBLEMS FOUND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0898" y="1914754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" y="1733702"/>
            <a:ext cx="3657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button text (e.g., “Click here / ኛኚቻ ሚትክርን”)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0898" y="2785262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" y="2604211"/>
            <a:ext cx="3657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empty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0898" y="3655771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" y="3474720"/>
            <a:ext cx="3657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paragraphs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0898" y="4526280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" y="4345229"/>
            <a:ext cx="3657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words appearing in Amharic column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4316" y="1251814"/>
            <a:ext cx="4216298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8052" y="1369771"/>
            <a:ext cx="23481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SOLUTIONS APPLIED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7138" y="1805026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5212" y="1645920"/>
            <a:ext cx="374904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empty or missing rows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7138" y="2654503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5212" y="2495398"/>
            <a:ext cx="374904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filtering: kept sentences between 3–100 words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7138" y="3503981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5212" y="3344875"/>
            <a:ext cx="374904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to filter non-Amharic characters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7138" y="4353458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5212" y="4194353"/>
            <a:ext cx="374904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&amp; fixing spacing artifacts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vs.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830629"/>
            <a:ext cx="2967228" cy="1538021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070" y="1993392"/>
            <a:ext cx="2033626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CLEANING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3018" y="2200961"/>
            <a:ext cx="2395728" cy="767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500K+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4418" y="2941625"/>
            <a:ext cx="2853842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sentence pairs collected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0" cy="100584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78885" y="2296973"/>
            <a:ext cx="1386230" cy="605333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6959" y="2343607"/>
            <a:ext cx="111008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−120K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16959" y="2590495"/>
            <a:ext cx="1501445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9046" y="1830629"/>
            <a:ext cx="2967228" cy="1538021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9457" y="1993392"/>
            <a:ext cx="1887322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CLEANING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2627" y="2200961"/>
            <a:ext cx="2360981" cy="767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380K+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782666" y="2941625"/>
            <a:ext cx="2659990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high-quality pairs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6" y="3525012"/>
            <a:ext cx="8048549" cy="761695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41141"/>
            <a:ext cx="804672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 curated, dense, and effective learning environment—ready for SentencePiece BPE tokenization and Transformer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Preparing for the Neural Network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184794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clean text into token IDs for the Transformer. Dynamic padding per batch reduces VRAM usage during training.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3037" y="1589227"/>
            <a:ext cx="4392778" cy="3055925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037" y="1778508"/>
            <a:ext cx="4392778" cy="576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23037" y="2293315"/>
            <a:ext cx="4392778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4477" y="2602382"/>
            <a:ext cx="4209898" cy="1867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the model studies from to learn language patterns, structure, and meaning from thousands of examples.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11419" y="1557223"/>
            <a:ext cx="1517904" cy="3052267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1419" y="1746504"/>
            <a:ext cx="1517904" cy="576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11419" y="2261311"/>
            <a:ext cx="1517904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2859" y="2570378"/>
            <a:ext cx="1335024" cy="1863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quizzes to tune performance during training. Used for early stopping and checkpoint selection.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37476" y="1556309"/>
            <a:ext cx="1356970" cy="3053182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7476" y="1745590"/>
            <a:ext cx="1356970" cy="576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37476" y="2260397"/>
            <a:ext cx="135697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28916" y="2569464"/>
            <a:ext cx="1174090" cy="1864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final exam to prove the model actually works on unseen data.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Tokenizing Fidel (Amharic Script)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9554" y="1230782"/>
            <a:ext cx="4061765" cy="210860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" y="1374343"/>
            <a:ext cx="27432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Ge’ez Script?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812" y="1735531"/>
            <a:ext cx="3657600" cy="1446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uses the ancient Ge’ez alphabet, called Fidel. Unlike Latin script, each character represents a consonant-vowel combination—making tokenization unique.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3387" y="3374136"/>
            <a:ext cx="4027932" cy="168706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3387" y="3374136"/>
            <a:ext cx="54864" cy="16870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" y="3475634"/>
            <a:ext cx="32004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SentencePiece BPE Tokenizer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7979" y="3772814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32K vocabulary for Amharic + English. character_coverage=0.9995 handles all 200+ Ge’ez symbols. &lt;pad&gt;=0, &lt;unk&gt;=1, &lt;s&gt;=2, &lt;/s&gt;=3.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4646" y="1236269"/>
            <a:ext cx="4205326" cy="3825850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7548" y="1913839"/>
            <a:ext cx="326075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TOKENIZATION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66944" y="2216506"/>
            <a:ext cx="3605479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216506"/>
            <a:ext cx="36054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4546A"/>
                </a:solidFill>
                <a:latin typeface="Nyala" pitchFamily="34" charset="0"/>
                <a:ea typeface="Nyala" pitchFamily="34" charset="-122"/>
                <a:cs typeface="Nyala" pitchFamily="34" charset="-120"/>
              </a:rPr>
              <a:t>ሀማዋዋማ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266944" y="2749601"/>
            <a:ext cx="3605479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Amharic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13578" y="3337560"/>
            <a:ext cx="3605479" cy="73792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5738" y="3545129"/>
            <a:ext cx="365760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[ 3, 847, 21, 4, 12, 3 ]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4842" y="4217213"/>
            <a:ext cx="431231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token IDs (shared vocab)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IMPLEMENTATION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Intern Arsenal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9554" y="1232611"/>
            <a:ext cx="2529230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2726" y="1369771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2726" y="166237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9886" y="1722730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2726" y="2478024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9886" y="2538374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9886" y="2958998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nn.Transformer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2726" y="329366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886" y="3354019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SentencePiece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9886" y="3774643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tokenizer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7385" y="1232611"/>
            <a:ext cx="2529230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0557" y="1369771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/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0557" y="166237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7717" y="1722730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77717" y="2143354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40557" y="2478024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7717" y="2538374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Weights &amp; Biases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77717" y="2958998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40557" y="329366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7717" y="3354019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SacreBLEU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77717" y="3774643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chrF evaluation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66130" y="1232611"/>
            <a:ext cx="2529230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9302" y="1369771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 ENVIRONMENT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99302" y="166237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6462" y="1722730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Code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9302" y="2478024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6462" y="2538374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Jupyter Notebooks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9302" y="3293669"/>
            <a:ext cx="2061972" cy="37673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6462" y="3354019"/>
            <a:ext cx="18288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 &amp; GitHub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Overcoming Obstacles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231697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6618" y="1379830"/>
            <a:ext cx="276149" cy="276149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" y="1463040"/>
            <a:ext cx="1097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4732" y="1375258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Low-Resource 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4732" y="1699870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Amharic parallel data is incredibly sparse and often hidden in unformatted PDFs. Finding quality sources required creative thinking and systematic data collection from 4+ different sources.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7726" y="2537460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8" y="2685593"/>
            <a:ext cx="276149" cy="276149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" y="2768803"/>
            <a:ext cx="1097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84732" y="2681021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from Scratch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4732" y="3005633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prior ML experience, implementing a full Seq2Seq Transformer architecture from scratch in PyTorch meant learning positional encoding, multi-head attention, masking, AMP training, and beam search decoding all at once.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6" y="3843223"/>
            <a:ext cx="8048549" cy="1176833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8" y="3991356"/>
            <a:ext cx="276149" cy="276149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" y="4074566"/>
            <a:ext cx="1097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84732" y="3986784"/>
            <a:ext cx="6858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Hardware &amp; 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4732" y="4311396"/>
            <a:ext cx="722376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380K+ rows and training a 74M parameter model requires a powerful GPU workstation. Development was split between a personal PC for pipeline prototyping and an institute workstation for full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Lessons from the Trenches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0644" y="1232611"/>
            <a:ext cx="3838651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" y="1420978"/>
            <a:ext cx="27432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ML REALITY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" y="1610258"/>
            <a:ext cx="1526134" cy="895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353666" y="1757477"/>
            <a:ext cx="2228393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ML work is Data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" y="2752344"/>
            <a:ext cx="3979469" cy="1149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cleaning, and managing data is the bulk of the job. The model training itself? That’s the easy part. This is the industry’s best-kept secret.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5794" y="1232611"/>
            <a:ext cx="3838651" cy="365302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3772" y="1420978"/>
            <a:ext cx="27432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34686" y="1946758"/>
            <a:ext cx="47549" cy="47549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6652" y="1757477"/>
            <a:ext cx="3989527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Transitioned from IT theory to practical, real-world AI pipelines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34686" y="2649931"/>
            <a:ext cx="47549" cy="47549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6652" y="2455164"/>
            <a:ext cx="32004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work with messy, unstructured data at scale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34686" y="3322015"/>
            <a:ext cx="47549" cy="47549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6652" y="3151937"/>
            <a:ext cx="3510382" cy="852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professional DevOps habits—version control, environment management, GPU training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3639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327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Roadmap: Implementation Phases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681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7726" y="1230782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726" y="1230782"/>
            <a:ext cx="54864" cy="117591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6618" y="1378915"/>
            <a:ext cx="276149" cy="276149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7202" y="1419149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8098" y="1374343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8098" y="1648663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380K+ curated sentence pairs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1977" y="2077517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5794" y="1230782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5794" y="1230782"/>
            <a:ext cx="54864" cy="117591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4686" y="1378915"/>
            <a:ext cx="276149" cy="276149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5270" y="1419149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6166" y="1374343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Preprocessing &amp; BPE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6166" y="1648663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Normalisation, 95/2.5/2.5 split, SentencePiece 32K vocab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046" y="2077517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26" y="2535631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6" y="2535631"/>
            <a:ext cx="54864" cy="117591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8" y="2683764"/>
            <a:ext cx="276149" cy="276149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2" y="2723998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8098" y="2679192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Transformer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8098" y="2953512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Transformer (74M params), plumbing test passed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1977" y="338236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5794" y="2535631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5794" y="2535631"/>
            <a:ext cx="54864" cy="117591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34686" y="2683764"/>
            <a:ext cx="276149" cy="276149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5270" y="2723998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6166" y="2679192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6166" y="2953512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AMP, AdamW, warmup, early stopping, checkpointing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046" y="338236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7726" y="3840480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7726" y="3840480"/>
            <a:ext cx="54864" cy="117591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618" y="3988613"/>
            <a:ext cx="276149" cy="276149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7202" y="4028846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38098" y="3984041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Beam Search &amp; Evaluation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38098" y="4258361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Beam Search (width=5), BLEU &amp; chrF scores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1977" y="468721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5794" y="3840480"/>
            <a:ext cx="3838651" cy="1175918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5794" y="3840480"/>
            <a:ext cx="54864" cy="117591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34686" y="3988613"/>
            <a:ext cx="276149" cy="276149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5270" y="4028846"/>
            <a:ext cx="18288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6166" y="3984041"/>
            <a:ext cx="228600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Deployment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46166" y="4258361"/>
            <a:ext cx="301752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 /translate endpoints, torch.no_grad()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046" y="468721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18488" y="932688"/>
            <a:ext cx="5907024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Amharic–English NMT — Phases 1–3 Complete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0" y="1250899"/>
            <a:ext cx="457200" cy="1463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87422" y="1377086"/>
            <a:ext cx="3769157" cy="767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462126" y="2218334"/>
            <a:ext cx="6219749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I’d love to take any questions or hear your feedback.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2486" y="2948940"/>
            <a:ext cx="457200" cy="1463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4795" y="3214116"/>
            <a:ext cx="3735324" cy="257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Yohannes Zewde · IT Student &amp; ML Intern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115154"/>
            <a:ext cx="9144000" cy="292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Amharic-English NMT — Implementation Phases 1-3</dc:title>
  <dc:subject>Seq2Seq Transformer from Scratch</dc:subject>
  <dc:creator>Yohannes Zewde</dc:creator>
  <cp:lastModifiedBy>Yohannes Zewde</cp:lastModifiedBy>
  <cp:revision>1</cp:revision>
  <dcterms:created xsi:type="dcterms:W3CDTF">2026-07-08T07:26:48Z</dcterms:created>
  <dcterms:modified xsi:type="dcterms:W3CDTF">2026-07-08T07:26:48Z</dcterms:modified>
</cp:coreProperties>
</file>