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9982" y="3355340"/>
            <a:ext cx="2564129" cy="464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rgbClr val="111726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D40AF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rgbClr val="111726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D40AF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rgbClr val="111726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rgbClr val="111726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7149"/>
            <a:ext cx="18288000" cy="10229850"/>
          </a:xfrm>
          <a:custGeom>
            <a:avLst/>
            <a:gdLst/>
            <a:ahLst/>
            <a:cxnLst/>
            <a:rect l="l" t="t" r="r" b="b"/>
            <a:pathLst>
              <a:path w="18288000" h="10229850">
                <a:moveTo>
                  <a:pt x="0" y="10229849"/>
                </a:moveTo>
                <a:lnTo>
                  <a:pt x="18287998" y="10229849"/>
                </a:lnTo>
                <a:lnTo>
                  <a:pt x="18287998" y="0"/>
                </a:lnTo>
                <a:lnTo>
                  <a:pt x="0" y="0"/>
                </a:lnTo>
                <a:lnTo>
                  <a:pt x="0" y="1022984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4163" y="1139253"/>
            <a:ext cx="16119673" cy="861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rgbClr val="111726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42268" y="2455102"/>
            <a:ext cx="14475460" cy="6514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D40AF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88940" y="4217733"/>
            <a:ext cx="11109325" cy="595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700" spc="295" dirty="0">
                <a:solidFill>
                  <a:srgbClr val="1D40AF"/>
                </a:solidFill>
              </a:rPr>
              <a:t>Amharic–</a:t>
            </a:r>
            <a:r>
              <a:rPr sz="3700" spc="65" dirty="0">
                <a:solidFill>
                  <a:srgbClr val="1D40AF"/>
                </a:solidFill>
              </a:rPr>
              <a:t>English</a:t>
            </a:r>
            <a:r>
              <a:rPr sz="3700" spc="-220" dirty="0">
                <a:solidFill>
                  <a:srgbClr val="1D40AF"/>
                </a:solidFill>
              </a:rPr>
              <a:t> </a:t>
            </a:r>
            <a:r>
              <a:rPr sz="3700" spc="210" dirty="0">
                <a:solidFill>
                  <a:srgbClr val="1D40AF"/>
                </a:solidFill>
              </a:rPr>
              <a:t>Neural</a:t>
            </a:r>
            <a:r>
              <a:rPr sz="3700" spc="-220" dirty="0">
                <a:solidFill>
                  <a:srgbClr val="1D40AF"/>
                </a:solidFill>
              </a:rPr>
              <a:t> </a:t>
            </a:r>
            <a:r>
              <a:rPr sz="3700" spc="250" dirty="0">
                <a:solidFill>
                  <a:srgbClr val="1D40AF"/>
                </a:solidFill>
              </a:rPr>
              <a:t>Machine</a:t>
            </a:r>
            <a:r>
              <a:rPr sz="3700" spc="-220" dirty="0">
                <a:solidFill>
                  <a:srgbClr val="1D40AF"/>
                </a:solidFill>
              </a:rPr>
              <a:t> </a:t>
            </a:r>
            <a:r>
              <a:rPr sz="3700" spc="175" dirty="0">
                <a:solidFill>
                  <a:srgbClr val="1D40AF"/>
                </a:solidFill>
              </a:rPr>
              <a:t>Translation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5931792" y="5209920"/>
            <a:ext cx="642556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2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29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Collection</a:t>
            </a:r>
            <a:r>
              <a:rPr sz="29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&amp;</a:t>
            </a:r>
            <a:r>
              <a:rPr sz="2950" spc="-29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Preprocessing</a:t>
            </a:r>
            <a:r>
              <a:rPr sz="2950" spc="-2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Milestone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62999" y="75056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912694" y="6819644"/>
            <a:ext cx="246380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5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Y</a:t>
            </a:r>
            <a:r>
              <a:rPr sz="2950" spc="-2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o</a:t>
            </a:r>
            <a:r>
              <a:rPr sz="2950" spc="-1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h</a:t>
            </a:r>
            <a:r>
              <a:rPr sz="2950" spc="-1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95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nn</a:t>
            </a:r>
            <a:r>
              <a:rPr sz="29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</a:t>
            </a:r>
            <a:r>
              <a:rPr sz="2950" spc="-2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</a:t>
            </a:r>
            <a:r>
              <a:rPr sz="2950" spc="-2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zewde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1999" y="2571749"/>
            <a:ext cx="9144000" cy="5257800"/>
            <a:chOff x="4571999" y="2571749"/>
            <a:chExt cx="9144000" cy="5257800"/>
          </a:xfrm>
        </p:grpSpPr>
        <p:sp>
          <p:nvSpPr>
            <p:cNvPr id="3" name="object 3"/>
            <p:cNvSpPr/>
            <p:nvPr/>
          </p:nvSpPr>
          <p:spPr>
            <a:xfrm>
              <a:off x="4571999" y="2571749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3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571999" y="2686049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3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51434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4571999" y="19049"/>
            <a:ext cx="9144000" cy="19050"/>
          </a:xfrm>
          <a:custGeom>
            <a:avLst/>
            <a:gdLst/>
            <a:ahLst/>
            <a:cxnLst/>
            <a:rect l="l" t="t" r="r" b="b"/>
            <a:pathLst>
              <a:path w="9144000" h="19050">
                <a:moveTo>
                  <a:pt x="9143999" y="19049"/>
                </a:moveTo>
                <a:lnTo>
                  <a:pt x="0" y="1904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90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84163" y="654050"/>
            <a:ext cx="6615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5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section</a:t>
            </a:r>
            <a:r>
              <a:rPr sz="1800" b="1" spc="2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33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800" b="1" spc="2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13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PROJECT</a:t>
            </a:r>
            <a:r>
              <a:rPr sz="1800" b="1" spc="30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18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ROADMAP</a:t>
            </a:r>
            <a:r>
              <a:rPr sz="1800" b="1" spc="2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1800" b="1" spc="2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1800" b="1" spc="30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11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MILESTONES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08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00" spc="90" dirty="0"/>
              <a:t>Project</a:t>
            </a:r>
            <a:r>
              <a:rPr sz="2700" spc="-165" dirty="0"/>
              <a:t> </a:t>
            </a:r>
            <a:r>
              <a:rPr sz="2700" spc="204" dirty="0"/>
              <a:t>Roadmap</a:t>
            </a:r>
            <a:r>
              <a:rPr sz="2700" spc="-165" dirty="0"/>
              <a:t> </a:t>
            </a:r>
            <a:r>
              <a:rPr sz="2700" spc="229" dirty="0"/>
              <a:t>&amp;</a:t>
            </a:r>
            <a:r>
              <a:rPr sz="2700" spc="-165" dirty="0"/>
              <a:t> </a:t>
            </a:r>
            <a:r>
              <a:rPr sz="2700" spc="105" dirty="0"/>
              <a:t>Milestones</a:t>
            </a:r>
            <a:endParaRPr sz="2700"/>
          </a:p>
        </p:txBody>
      </p:sp>
      <p:sp>
        <p:nvSpPr>
          <p:cNvPr id="8" name="object 8"/>
          <p:cNvSpPr txBox="1"/>
          <p:nvPr/>
        </p:nvSpPr>
        <p:spPr>
          <a:xfrm>
            <a:off x="1558329" y="2399404"/>
            <a:ext cx="12900660" cy="6553834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666115">
              <a:lnSpc>
                <a:spcPct val="100000"/>
              </a:lnSpc>
              <a:spcBef>
                <a:spcPts val="1405"/>
              </a:spcBef>
            </a:pPr>
            <a:r>
              <a:rPr sz="2800" b="1" spc="110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Milestone</a:t>
            </a:r>
            <a:r>
              <a:rPr sz="2800" b="1" spc="-175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520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800" b="1" spc="-175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29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800" b="1" spc="-175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204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2800" b="1" spc="-175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95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Collection</a:t>
            </a:r>
            <a:r>
              <a:rPr sz="2800" b="1" spc="-175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200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800" b="1" spc="-175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70" dirty="0">
                <a:solidFill>
                  <a:srgbClr val="055E45"/>
                </a:solidFill>
                <a:latin typeface="Arial" panose="020B0604020202020204"/>
                <a:cs typeface="Arial" panose="020B0604020202020204"/>
              </a:rPr>
              <a:t>Preprocessing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51765">
              <a:lnSpc>
                <a:spcPct val="100000"/>
              </a:lnSpc>
              <a:spcBef>
                <a:spcPts val="1190"/>
              </a:spcBef>
            </a:pPr>
            <a:r>
              <a:rPr sz="2450" spc="-105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1st</a:t>
            </a:r>
            <a:r>
              <a:rPr sz="2450" spc="-204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25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Finished</a:t>
            </a:r>
            <a:r>
              <a:rPr sz="2450" spc="-6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45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2450" spc="-229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75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207,885</a:t>
            </a:r>
            <a:r>
              <a:rPr sz="2450" spc="-14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35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sentence</a:t>
            </a:r>
            <a:r>
              <a:rPr sz="2450" spc="-165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pairs</a:t>
            </a:r>
            <a:r>
              <a:rPr sz="2450" spc="-16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85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collected,</a:t>
            </a:r>
            <a:r>
              <a:rPr sz="2450" spc="-65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2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cleaned,</a:t>
            </a:r>
            <a:r>
              <a:rPr sz="2450" spc="-7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tokenized</a:t>
            </a:r>
            <a:r>
              <a:rPr sz="2450" spc="-6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&amp;</a:t>
            </a:r>
            <a:r>
              <a:rPr sz="2450" spc="-254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formatted</a:t>
            </a:r>
            <a:r>
              <a:rPr sz="2450" spc="-6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450" spc="-229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049569"/>
                </a:solidFill>
                <a:latin typeface="Microsoft Sans Serif" panose="020B0604020202020204"/>
                <a:cs typeface="Microsoft Sans Serif" panose="020B0604020202020204"/>
              </a:rPr>
              <a:t>training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650875">
              <a:lnSpc>
                <a:spcPct val="100000"/>
              </a:lnSpc>
              <a:spcBef>
                <a:spcPts val="2710"/>
              </a:spcBef>
            </a:pPr>
            <a:r>
              <a:rPr sz="2800" b="1" spc="11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Milestone</a:t>
            </a:r>
            <a:r>
              <a:rPr sz="2800" b="1" spc="-17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800" b="1" spc="-16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29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800" b="1" spc="-17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3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Transformer</a:t>
            </a:r>
            <a:r>
              <a:rPr sz="2800" b="1" spc="-16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2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Architecture</a:t>
            </a:r>
            <a:r>
              <a:rPr sz="2800" b="1" spc="-16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0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Initialization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51765">
              <a:lnSpc>
                <a:spcPct val="100000"/>
              </a:lnSpc>
              <a:spcBef>
                <a:spcPts val="2240"/>
              </a:spcBef>
            </a:pPr>
            <a:r>
              <a:rPr sz="2450" spc="-2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Built</a:t>
            </a:r>
            <a:r>
              <a:rPr sz="2450" spc="-19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entirely</a:t>
            </a:r>
            <a:r>
              <a:rPr sz="2450" spc="-21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450" spc="-114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2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scratch</a:t>
            </a:r>
            <a:r>
              <a:rPr sz="2450" spc="-4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4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8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PyTorch</a:t>
            </a:r>
            <a:r>
              <a:rPr sz="2450" spc="-5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4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2450" spc="-21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no</a:t>
            </a:r>
            <a:r>
              <a:rPr sz="2450" spc="-13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pre-</a:t>
            </a:r>
            <a:r>
              <a:rPr sz="2450" spc="-7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trained</a:t>
            </a:r>
            <a:r>
              <a:rPr sz="2450" spc="-3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weights,</a:t>
            </a:r>
            <a:r>
              <a:rPr sz="2450" spc="-4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no</a:t>
            </a:r>
            <a:r>
              <a:rPr sz="2450" spc="-13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7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HuggingFace</a:t>
            </a:r>
            <a:r>
              <a:rPr sz="2450" spc="-14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2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Transformers</a:t>
            </a:r>
            <a:r>
              <a:rPr sz="2450" spc="-14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</a:rPr>
              <a:t>library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650875">
              <a:lnSpc>
                <a:spcPct val="100000"/>
              </a:lnSpc>
              <a:spcBef>
                <a:spcPts val="1960"/>
              </a:spcBef>
            </a:pPr>
            <a:r>
              <a:rPr sz="2800" b="1" spc="11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Milestone</a:t>
            </a:r>
            <a:r>
              <a:rPr sz="2800" b="1" spc="-18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2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800" b="1" spc="-17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29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800" b="1" spc="-18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2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Model</a:t>
            </a:r>
            <a:r>
              <a:rPr sz="2800" b="1" spc="-17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14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Training</a:t>
            </a:r>
            <a:r>
              <a:rPr sz="2800" b="1" spc="-18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14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800" b="1" spc="-17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3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Workstation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51765">
              <a:lnSpc>
                <a:spcPct val="100000"/>
              </a:lnSpc>
              <a:spcBef>
                <a:spcPts val="1490"/>
              </a:spcBef>
            </a:pPr>
            <a:r>
              <a:rPr sz="2450" spc="-10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Full</a:t>
            </a:r>
            <a:r>
              <a:rPr sz="2450" spc="-8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2450" spc="-22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loop</a:t>
            </a:r>
            <a:r>
              <a:rPr sz="2450" spc="-12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4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450" spc="-4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8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local</a:t>
            </a:r>
            <a:r>
              <a:rPr sz="2450" spc="-8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35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GPU</a:t>
            </a:r>
            <a:r>
              <a:rPr sz="2450" spc="-4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4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2450" spc="-22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multi-</a:t>
            </a:r>
            <a:r>
              <a:rPr sz="2450" spc="-12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epoch</a:t>
            </a:r>
            <a:r>
              <a:rPr sz="2450" spc="-5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2450" spc="-22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450" spc="-5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450" spc="-22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rate</a:t>
            </a:r>
            <a:r>
              <a:rPr sz="2450" spc="-15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scheduling</a:t>
            </a:r>
            <a:r>
              <a:rPr sz="2450" spc="-22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&amp;</a:t>
            </a:r>
            <a:r>
              <a:rPr sz="2450" spc="-24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checkpointing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400">
              <a:latin typeface="Microsoft Sans Serif" panose="020B0604020202020204"/>
              <a:cs typeface="Microsoft Sans Serif" panose="020B0604020202020204"/>
            </a:endParaRPr>
          </a:p>
          <a:p>
            <a:pPr marL="650875">
              <a:lnSpc>
                <a:spcPct val="100000"/>
              </a:lnSpc>
            </a:pPr>
            <a:r>
              <a:rPr sz="2800" b="1" spc="11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Milestone</a:t>
            </a:r>
            <a:r>
              <a:rPr sz="2800" b="1" spc="-17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32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800" b="1" spc="-17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29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800" b="1" spc="-18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2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Inference</a:t>
            </a:r>
            <a:r>
              <a:rPr sz="2800" b="1" spc="-17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20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800" b="1" spc="-17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0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Evaluation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450" spc="-29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BLEU</a:t>
            </a:r>
            <a:r>
              <a:rPr sz="2450" spc="-2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4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score</a:t>
            </a:r>
            <a:r>
              <a:rPr sz="2450" spc="-14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evaluation,</a:t>
            </a:r>
            <a:r>
              <a:rPr sz="2450" spc="-3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3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beam</a:t>
            </a:r>
            <a:r>
              <a:rPr sz="2450" spc="-1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6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search</a:t>
            </a:r>
            <a:r>
              <a:rPr sz="2450" spc="-3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decoding,</a:t>
            </a:r>
            <a:r>
              <a:rPr sz="2450" spc="-4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translation</a:t>
            </a:r>
            <a:r>
              <a:rPr sz="2450" spc="-3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quality</a:t>
            </a:r>
            <a:r>
              <a:rPr sz="2450" spc="-2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benchmarks</a:t>
            </a:r>
            <a:r>
              <a:rPr sz="2450" spc="-13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4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450" spc="-3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held-</a:t>
            </a:r>
            <a:r>
              <a:rPr sz="245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out</a:t>
            </a:r>
            <a:r>
              <a:rPr sz="2450" spc="-18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test</a:t>
            </a:r>
            <a:r>
              <a:rPr sz="2450" spc="-18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set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400">
              <a:latin typeface="Microsoft Sans Serif" panose="020B0604020202020204"/>
              <a:cs typeface="Microsoft Sans Serif" panose="020B0604020202020204"/>
            </a:endParaRPr>
          </a:p>
          <a:p>
            <a:pPr marL="650875">
              <a:lnSpc>
                <a:spcPct val="100000"/>
              </a:lnSpc>
              <a:spcBef>
                <a:spcPts val="5"/>
              </a:spcBef>
            </a:pPr>
            <a:r>
              <a:rPr sz="2800" b="1" spc="11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Milestone</a:t>
            </a:r>
            <a:r>
              <a:rPr sz="2800" b="1" spc="-18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25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800" b="1" spc="-18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29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800" b="1" spc="-18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3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API</a:t>
            </a:r>
            <a:r>
              <a:rPr sz="2800" b="1" spc="-180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45" dirty="0">
                <a:solidFill>
                  <a:srgbClr val="374050"/>
                </a:solidFill>
                <a:latin typeface="Arial" panose="020B0604020202020204"/>
                <a:cs typeface="Arial" panose="020B0604020202020204"/>
              </a:rPr>
              <a:t>Deployment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9845">
              <a:lnSpc>
                <a:spcPct val="100000"/>
              </a:lnSpc>
              <a:spcBef>
                <a:spcPts val="1490"/>
              </a:spcBef>
            </a:pPr>
            <a:r>
              <a:rPr sz="2450" spc="-19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Package</a:t>
            </a:r>
            <a:r>
              <a:rPr sz="2450" spc="-13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04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as</a:t>
            </a:r>
            <a:r>
              <a:rPr sz="2450" spc="-14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production-</a:t>
            </a:r>
            <a:r>
              <a:rPr sz="2450" spc="-10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ready</a:t>
            </a:r>
            <a:r>
              <a:rPr sz="2450" spc="-2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35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REST</a:t>
            </a:r>
            <a:r>
              <a:rPr sz="2450" spc="-18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9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API</a:t>
            </a:r>
            <a:r>
              <a:rPr sz="2450" spc="8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4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2450" spc="-204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real-</a:t>
            </a:r>
            <a:r>
              <a:rPr sz="2450" spc="-3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time</a:t>
            </a:r>
            <a:r>
              <a:rPr sz="2450" spc="-13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Amharic–</a:t>
            </a:r>
            <a:r>
              <a:rPr sz="2450" spc="-14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English</a:t>
            </a:r>
            <a:r>
              <a:rPr sz="2450" spc="-3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translation</a:t>
            </a:r>
            <a:r>
              <a:rPr sz="2450" spc="-3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endpoint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9" y="2724149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71999" y="19049"/>
            <a:ext cx="9144000" cy="19050"/>
          </a:xfrm>
          <a:custGeom>
            <a:avLst/>
            <a:gdLst/>
            <a:ahLst/>
            <a:cxnLst/>
            <a:rect l="l" t="t" r="r" b="b"/>
            <a:pathLst>
              <a:path w="9144000" h="19050">
                <a:moveTo>
                  <a:pt x="9143999" y="19049"/>
                </a:moveTo>
                <a:lnTo>
                  <a:pt x="0" y="1904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90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4163" y="654050"/>
            <a:ext cx="4550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SECTION</a:t>
            </a:r>
            <a:r>
              <a:rPr sz="1800" b="1" spc="2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800" b="1" spc="2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1800" b="1" spc="2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13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PROJECT</a:t>
            </a:r>
            <a:r>
              <a:rPr sz="1800" b="1" spc="2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1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OVERVIEW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8460" rIns="0" bIns="0" rtlCol="0">
            <a:spAutoFit/>
          </a:bodyPr>
          <a:lstStyle/>
          <a:p>
            <a:pPr marL="793750">
              <a:lnSpc>
                <a:spcPct val="100000"/>
              </a:lnSpc>
              <a:spcBef>
                <a:spcPts val="100"/>
              </a:spcBef>
            </a:pPr>
            <a:r>
              <a:rPr sz="3200" spc="100" dirty="0"/>
              <a:t>The</a:t>
            </a:r>
            <a:r>
              <a:rPr sz="3200" spc="-210" dirty="0"/>
              <a:t> </a:t>
            </a:r>
            <a:r>
              <a:rPr sz="3200" spc="195" dirty="0"/>
              <a:t>Ultimate</a:t>
            </a:r>
            <a:r>
              <a:rPr sz="3200" spc="-210" dirty="0"/>
              <a:t> </a:t>
            </a:r>
            <a:r>
              <a:rPr sz="3200" spc="90" dirty="0"/>
              <a:t>Goal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1865808" y="2567833"/>
            <a:ext cx="11622405" cy="5471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30"/>
              </a:spcBef>
            </a:pPr>
            <a:r>
              <a:rPr sz="24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Build</a:t>
            </a:r>
            <a:r>
              <a:rPr sz="2450" spc="-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highly</a:t>
            </a:r>
            <a:r>
              <a:rPr sz="2450" spc="-229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accurate</a:t>
            </a:r>
            <a:r>
              <a:rPr sz="2450" spc="-1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Amharic–</a:t>
            </a:r>
            <a:r>
              <a:rPr sz="2450" spc="-1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English</a:t>
            </a:r>
            <a:r>
              <a:rPr sz="2450" spc="-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translation </a:t>
            </a:r>
            <a:r>
              <a:rPr sz="2450" spc="-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450" spc="-9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450" spc="-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package</a:t>
            </a:r>
            <a:r>
              <a:rPr sz="2450" spc="-1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2450" spc="-20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0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as</a:t>
            </a:r>
            <a:r>
              <a:rPr sz="2450" spc="-1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3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REST</a:t>
            </a:r>
            <a:r>
              <a:rPr sz="2450" spc="-1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9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API</a:t>
            </a:r>
            <a:r>
              <a:rPr sz="2450" spc="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Microsoft Sans Serif" panose="020B0604020202020204"/>
              <a:cs typeface="Microsoft Sans Serif" panose="020B0604020202020204"/>
            </a:endParaRPr>
          </a:p>
          <a:p>
            <a:pPr marL="188595">
              <a:lnSpc>
                <a:spcPct val="100000"/>
              </a:lnSpc>
              <a:spcBef>
                <a:spcPts val="5"/>
              </a:spcBef>
            </a:pPr>
            <a:r>
              <a:rPr sz="290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bridge</a:t>
            </a:r>
            <a:r>
              <a:rPr sz="2900" spc="-20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2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so</a:t>
            </a:r>
            <a:r>
              <a:rPr sz="2900" spc="-1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other</a:t>
            </a:r>
            <a:r>
              <a:rPr sz="2900" spc="-2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1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web</a:t>
            </a:r>
            <a:r>
              <a:rPr sz="2900" spc="-1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1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900" spc="-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mobile</a:t>
            </a:r>
            <a:r>
              <a:rPr sz="2900" spc="-1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1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apps</a:t>
            </a:r>
            <a:r>
              <a:rPr sz="2900" spc="-1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2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290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1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easily</a:t>
            </a:r>
            <a:r>
              <a:rPr sz="2900" spc="-2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2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use</a:t>
            </a:r>
            <a:r>
              <a:rPr sz="2900" spc="-1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our</a:t>
            </a:r>
            <a:r>
              <a:rPr sz="2900" spc="-2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0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translator.</a:t>
            </a:r>
            <a:endParaRPr sz="2900"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800" b="1" spc="8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800" b="1" spc="-17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2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Architecture</a:t>
            </a:r>
            <a:r>
              <a:rPr sz="2800" b="1" spc="-17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29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800" b="1" spc="-18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5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Seq2Seq</a:t>
            </a:r>
            <a:r>
              <a:rPr sz="2800" b="1" spc="-17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3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Transformer</a:t>
            </a:r>
            <a:r>
              <a:rPr sz="2800" b="1" spc="-17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7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800" b="1" spc="-17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14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Scratch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88595">
              <a:lnSpc>
                <a:spcPct val="100000"/>
              </a:lnSpc>
              <a:spcBef>
                <a:spcPts val="1190"/>
              </a:spcBef>
            </a:pPr>
            <a:r>
              <a:rPr sz="2450" spc="-1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No</a:t>
            </a:r>
            <a:r>
              <a:rPr sz="2450" spc="-11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Language</a:t>
            </a:r>
            <a:r>
              <a:rPr sz="2450" spc="-1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Left</a:t>
            </a:r>
            <a:r>
              <a:rPr sz="2450" spc="-2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Behind.</a:t>
            </a:r>
            <a:r>
              <a:rPr sz="2450" spc="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25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state-</a:t>
            </a:r>
            <a:r>
              <a:rPr sz="2450" spc="-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of-</a:t>
            </a:r>
            <a:r>
              <a:rPr sz="2450" spc="-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the-</a:t>
            </a:r>
            <a:r>
              <a:rPr sz="24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art</a:t>
            </a:r>
            <a:r>
              <a:rPr sz="2450" spc="-1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open-</a:t>
            </a:r>
            <a:r>
              <a:rPr sz="2450" spc="-1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source</a:t>
            </a:r>
            <a:r>
              <a:rPr sz="2450" spc="-1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450" spc="-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specifically</a:t>
            </a:r>
            <a:r>
              <a:rPr sz="2450" spc="-20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built</a:t>
            </a:r>
            <a:r>
              <a:rPr sz="2450" spc="-1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450" spc="-11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rescue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245745">
              <a:lnSpc>
                <a:spcPct val="100000"/>
              </a:lnSpc>
              <a:spcBef>
                <a:spcPts val="1710"/>
              </a:spcBef>
            </a:pPr>
            <a:r>
              <a:rPr sz="24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low-</a:t>
            </a:r>
            <a:r>
              <a:rPr sz="24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resource</a:t>
            </a:r>
            <a:r>
              <a:rPr sz="2450" spc="-1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languages.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800" b="1" spc="21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Why</a:t>
            </a:r>
            <a:r>
              <a:rPr sz="2800" b="1" spc="-18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14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2800" b="1" spc="-17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15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Matters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5745">
              <a:lnSpc>
                <a:spcPct val="100000"/>
              </a:lnSpc>
              <a:spcBef>
                <a:spcPts val="2840"/>
              </a:spcBef>
            </a:pPr>
            <a:r>
              <a:rPr sz="245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Amharic</a:t>
            </a:r>
            <a:r>
              <a:rPr sz="2450" spc="-1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has</a:t>
            </a:r>
            <a:r>
              <a:rPr sz="24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30M+</a:t>
            </a:r>
            <a:r>
              <a:rPr sz="2450" spc="-1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speakers</a:t>
            </a:r>
            <a:r>
              <a:rPr sz="2450" spc="-1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but</a:t>
            </a:r>
            <a:r>
              <a:rPr sz="2450" spc="-1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50" spc="-1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digitally</a:t>
            </a:r>
            <a:r>
              <a:rPr sz="2450" spc="-2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underserved.</a:t>
            </a:r>
            <a:r>
              <a:rPr sz="2450" spc="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Improving</a:t>
            </a:r>
            <a:r>
              <a:rPr sz="2450" spc="-2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Amharic</a:t>
            </a:r>
            <a:r>
              <a:rPr sz="2450" spc="-1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NMT</a:t>
            </a:r>
            <a:r>
              <a:rPr sz="2450" spc="-1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removes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245745">
              <a:lnSpc>
                <a:spcPct val="100000"/>
              </a:lnSpc>
              <a:spcBef>
                <a:spcPts val="1410"/>
              </a:spcBef>
            </a:pPr>
            <a:r>
              <a:rPr sz="2450" spc="-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educational</a:t>
            </a:r>
            <a:r>
              <a:rPr sz="24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450" spc="-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economic</a:t>
            </a:r>
            <a:r>
              <a:rPr sz="2450" spc="-1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barriers.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48900"/>
            <a:chOff x="0" y="0"/>
            <a:chExt cx="18288000" cy="10248900"/>
          </a:xfrm>
        </p:grpSpPr>
        <p:sp>
          <p:nvSpPr>
            <p:cNvPr id="3" name="object 3"/>
            <p:cNvSpPr/>
            <p:nvPr/>
          </p:nvSpPr>
          <p:spPr>
            <a:xfrm>
              <a:off x="0" y="57149"/>
              <a:ext cx="18211800" cy="10191750"/>
            </a:xfrm>
            <a:custGeom>
              <a:avLst/>
              <a:gdLst/>
              <a:ahLst/>
              <a:cxnLst/>
              <a:rect l="l" t="t" r="r" b="b"/>
              <a:pathLst>
                <a:path w="18211800" h="10191750">
                  <a:moveTo>
                    <a:pt x="0" y="10191748"/>
                  </a:moveTo>
                  <a:lnTo>
                    <a:pt x="18211798" y="10191748"/>
                  </a:lnTo>
                  <a:lnTo>
                    <a:pt x="18211798" y="0"/>
                  </a:lnTo>
                  <a:lnTo>
                    <a:pt x="0" y="0"/>
                  </a:lnTo>
                  <a:lnTo>
                    <a:pt x="0" y="10191748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57150"/>
            </a:xfrm>
            <a:custGeom>
              <a:avLst/>
              <a:gdLst/>
              <a:ahLst/>
              <a:cxnLst/>
              <a:rect l="l" t="t" r="r" b="b"/>
              <a:pathLst>
                <a:path w="18288000" h="57150">
                  <a:moveTo>
                    <a:pt x="18287998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5714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084163" y="627380"/>
            <a:ext cx="501396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150" b="1" spc="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50" b="1" spc="-1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5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13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8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12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</a:t>
            </a:r>
            <a:endParaRPr sz="21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95" dirty="0"/>
              <a:t>Gathering</a:t>
            </a:r>
            <a:r>
              <a:rPr spc="-340" dirty="0"/>
              <a:t> </a:t>
            </a:r>
            <a:r>
              <a:rPr spc="360" dirty="0"/>
              <a:t>the</a:t>
            </a:r>
            <a:r>
              <a:rPr spc="-340" dirty="0"/>
              <a:t> </a:t>
            </a:r>
            <a:r>
              <a:rPr spc="165" dirty="0"/>
              <a:t>Building</a:t>
            </a:r>
            <a:r>
              <a:rPr spc="-335" dirty="0"/>
              <a:t> </a:t>
            </a:r>
            <a:r>
              <a:rPr spc="65" dirty="0"/>
              <a:t>Blocks</a:t>
            </a:r>
            <a:endParaRPr spc="65" dirty="0"/>
          </a:p>
        </p:txBody>
      </p:sp>
      <p:sp>
        <p:nvSpPr>
          <p:cNvPr id="7" name="object 7"/>
          <p:cNvSpPr txBox="1"/>
          <p:nvPr/>
        </p:nvSpPr>
        <p:spPr>
          <a:xfrm>
            <a:off x="4559299" y="2672765"/>
            <a:ext cx="8195309" cy="10160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2950" spc="-1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9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Machine</a:t>
            </a:r>
            <a:r>
              <a:rPr sz="2950" spc="-19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Learning,</a:t>
            </a:r>
            <a:r>
              <a:rPr sz="29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29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950" spc="-1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food.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2950" spc="-2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950" spc="-3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0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95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950" spc="-19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only</a:t>
            </a:r>
            <a:r>
              <a:rPr sz="2950" spc="-2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2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as</a:t>
            </a:r>
            <a:r>
              <a:rPr sz="2950" spc="-19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smart</a:t>
            </a:r>
            <a:r>
              <a:rPr sz="2950" spc="-2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2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as</a:t>
            </a:r>
            <a:r>
              <a:rPr sz="2950" spc="-1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950" spc="-19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examples</a:t>
            </a:r>
            <a:r>
              <a:rPr sz="2950" spc="-1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11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2950" spc="-2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consumes.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21942" y="4591113"/>
            <a:ext cx="248856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95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STARTED</a:t>
            </a:r>
            <a:r>
              <a:rPr sz="2300" b="1" spc="325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00" b="1" spc="210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WITH</a:t>
            </a:r>
            <a:endParaRPr sz="2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7314" y="4982209"/>
            <a:ext cx="4142740" cy="1781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0" b="1" spc="680" dirty="0">
                <a:solidFill>
                  <a:srgbClr val="D0D5DB"/>
                </a:solidFill>
                <a:latin typeface="Arial" panose="020B0604020202020204"/>
                <a:cs typeface="Arial" panose="020B0604020202020204"/>
              </a:rPr>
              <a:t>2,000</a:t>
            </a:r>
            <a:endParaRPr sz="1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8985" y="6676769"/>
            <a:ext cx="222504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1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sentence </a:t>
            </a:r>
            <a:r>
              <a:rPr sz="2950" spc="-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pairs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86749" y="5448299"/>
            <a:ext cx="1104900" cy="914400"/>
            <a:chOff x="8286749" y="5448299"/>
            <a:chExt cx="1104900" cy="914400"/>
          </a:xfrm>
        </p:grpSpPr>
        <p:sp>
          <p:nvSpPr>
            <p:cNvPr id="12" name="object 12"/>
            <p:cNvSpPr/>
            <p:nvPr/>
          </p:nvSpPr>
          <p:spPr>
            <a:xfrm>
              <a:off x="8286749" y="5448299"/>
              <a:ext cx="1104900" cy="38100"/>
            </a:xfrm>
            <a:custGeom>
              <a:avLst/>
              <a:gdLst/>
              <a:ahLst/>
              <a:cxnLst/>
              <a:rect l="l" t="t" r="r" b="b"/>
              <a:pathLst>
                <a:path w="1104900" h="38100">
                  <a:moveTo>
                    <a:pt x="11048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104899" y="0"/>
                  </a:lnTo>
                  <a:lnTo>
                    <a:pt x="1104899" y="380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667749" y="6134099"/>
              <a:ext cx="352424" cy="2285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541220" y="5600763"/>
            <a:ext cx="259143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19,000%</a:t>
            </a:r>
            <a:r>
              <a:rPr sz="2300" b="1" spc="12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00" b="1" spc="10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increase</a:t>
            </a:r>
            <a:endParaRPr sz="2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96810" y="4591113"/>
            <a:ext cx="31813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10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CURRENT</a:t>
            </a:r>
            <a:r>
              <a:rPr sz="2300" b="1" spc="33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00" b="1" spc="11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DATASET</a:t>
            </a:r>
            <a:endParaRPr sz="2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26774" y="4906009"/>
            <a:ext cx="4751070" cy="1781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0" b="1" spc="53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380K+</a:t>
            </a:r>
            <a:endParaRPr sz="1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88179" y="6676769"/>
            <a:ext cx="322961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pristine</a:t>
            </a:r>
            <a:r>
              <a:rPr sz="2950" spc="-1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parallel</a:t>
            </a:r>
            <a:r>
              <a:rPr sz="29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pairs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63" y="627380"/>
            <a:ext cx="51784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150" b="1" spc="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50" b="1" spc="-1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-11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</a:t>
            </a:r>
            <a:endParaRPr sz="21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5" dirty="0"/>
              <a:t>Where</a:t>
            </a:r>
            <a:r>
              <a:rPr spc="-345" dirty="0"/>
              <a:t> </a:t>
            </a:r>
            <a:r>
              <a:rPr spc="160" dirty="0"/>
              <a:t>Did</a:t>
            </a:r>
            <a:r>
              <a:rPr spc="-345" dirty="0"/>
              <a:t> </a:t>
            </a:r>
            <a:r>
              <a:rPr spc="360" dirty="0"/>
              <a:t>the</a:t>
            </a:r>
            <a:r>
              <a:rPr spc="-345" dirty="0"/>
              <a:t> </a:t>
            </a:r>
            <a:r>
              <a:rPr spc="434" dirty="0"/>
              <a:t>Data</a:t>
            </a:r>
            <a:r>
              <a:rPr spc="-345" dirty="0"/>
              <a:t> </a:t>
            </a:r>
            <a:r>
              <a:rPr spc="400" dirty="0"/>
              <a:t>Come</a:t>
            </a:r>
            <a:r>
              <a:rPr spc="-345" dirty="0"/>
              <a:t> </a:t>
            </a:r>
            <a:r>
              <a:rPr spc="90" dirty="0"/>
              <a:t>From?</a:t>
            </a:r>
            <a:endParaRPr spc="9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42949" y="3981449"/>
            <a:ext cx="95250" cy="952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77031" y="3774440"/>
            <a:ext cx="5075555" cy="1972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b="1" spc="6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Religious</a:t>
            </a:r>
            <a:r>
              <a:rPr sz="2850" b="1" spc="-15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6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Texts</a:t>
            </a:r>
            <a:endParaRPr sz="2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40000"/>
              </a:lnSpc>
              <a:spcBef>
                <a:spcPts val="1970"/>
              </a:spcBef>
            </a:pPr>
            <a:r>
              <a:rPr sz="2950" spc="-1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Bible,</a:t>
            </a:r>
            <a:r>
              <a:rPr sz="2950" spc="-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2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JW300</a:t>
            </a:r>
            <a:r>
              <a:rPr sz="2950" spc="-1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6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2950" spc="-2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highly</a:t>
            </a:r>
            <a:r>
              <a:rPr sz="2950" spc="-2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consistent, professionally</a:t>
            </a:r>
            <a:r>
              <a:rPr sz="2950" spc="-2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translated.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0" y="3352800"/>
            <a:ext cx="9601199" cy="37718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542" y="3800220"/>
            <a:ext cx="3938270" cy="95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20"/>
              </a:spcBef>
            </a:pPr>
            <a:r>
              <a:rPr sz="2950" spc="-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Strict,</a:t>
            </a:r>
            <a:r>
              <a:rPr sz="29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formal,</a:t>
            </a:r>
            <a:r>
              <a:rPr sz="29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950" spc="-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precise </a:t>
            </a:r>
            <a:r>
              <a:rPr sz="29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terminology.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" name="object 3" descr="$PPTXTitle"/>
          <p:cNvSpPr txBox="1"/>
          <p:nvPr/>
        </p:nvSpPr>
        <p:spPr>
          <a:xfrm>
            <a:off x="591542" y="3088639"/>
            <a:ext cx="342900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b="1" spc="8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850" b="1" spc="-18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22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850" b="1" spc="-18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8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Law</a:t>
            </a:r>
            <a:r>
              <a:rPr sz="2850" b="1" spc="-175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-10" dirty="0">
                <a:solidFill>
                  <a:srgbClr val="111726"/>
                </a:solidFill>
                <a:latin typeface="Arial" panose="020B0604020202020204"/>
                <a:cs typeface="Arial" panose="020B0604020202020204"/>
              </a:rPr>
              <a:t>Books</a:t>
            </a:r>
            <a:endParaRPr sz="28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61949" y="327659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990600"/>
            <a:ext cx="9639299" cy="8305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253" y="3263315"/>
            <a:ext cx="5904865" cy="1320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4000"/>
              </a:lnSpc>
              <a:spcBef>
                <a:spcPts val="90"/>
              </a:spcBef>
            </a:pPr>
            <a:r>
              <a:rPr sz="29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Conversational</a:t>
            </a:r>
            <a:r>
              <a:rPr sz="2950" spc="-1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text</a:t>
            </a:r>
            <a:r>
              <a:rPr sz="2950" spc="-2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950" spc="-1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teach</a:t>
            </a:r>
            <a:r>
              <a:rPr sz="2950" spc="-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950" spc="-19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model </a:t>
            </a:r>
            <a:r>
              <a:rPr sz="2950" spc="-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how</a:t>
            </a:r>
            <a:r>
              <a:rPr sz="2950" spc="-3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people</a:t>
            </a:r>
            <a:r>
              <a:rPr sz="2950" spc="-1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actually</a:t>
            </a:r>
            <a:r>
              <a:rPr sz="2950" spc="-2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speak.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55253" y="2707639"/>
            <a:ext cx="3713479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120" dirty="0"/>
              <a:t>Colloquial</a:t>
            </a:r>
            <a:r>
              <a:rPr sz="2850" spc="-150" dirty="0"/>
              <a:t> </a:t>
            </a:r>
            <a:r>
              <a:rPr sz="2850" spc="155" dirty="0"/>
              <a:t>Datasets</a:t>
            </a:r>
            <a:endParaRPr sz="285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6249" y="2914649"/>
            <a:ext cx="95250" cy="952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135" dirty="0"/>
              <a:t>News</a:t>
            </a:r>
            <a:r>
              <a:rPr sz="2850" spc="-185" dirty="0"/>
              <a:t> </a:t>
            </a:r>
            <a:r>
              <a:rPr sz="2850" spc="85" dirty="0"/>
              <a:t>Articles</a:t>
            </a:r>
            <a:endParaRPr sz="2850"/>
          </a:p>
        </p:txBody>
      </p:sp>
      <p:sp>
        <p:nvSpPr>
          <p:cNvPr id="3" name="object 3"/>
          <p:cNvSpPr txBox="1"/>
          <p:nvPr/>
        </p:nvSpPr>
        <p:spPr>
          <a:xfrm>
            <a:off x="1449982" y="4047870"/>
            <a:ext cx="4485640" cy="95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20"/>
              </a:spcBef>
            </a:pPr>
            <a:r>
              <a:rPr sz="2950" spc="-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Multilingual</a:t>
            </a:r>
            <a:r>
              <a:rPr sz="2950" spc="-1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news</a:t>
            </a:r>
            <a:r>
              <a:rPr sz="2950" spc="-1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950" spc="-2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modern </a:t>
            </a:r>
            <a:r>
              <a:rPr sz="2950" spc="-10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vocabulary</a:t>
            </a:r>
            <a:r>
              <a:rPr sz="2950" spc="-2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&amp;</a:t>
            </a:r>
            <a:r>
              <a:rPr sz="2950" spc="-2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current</a:t>
            </a:r>
            <a:r>
              <a:rPr sz="2950" spc="-2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events.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85849" y="3505199"/>
            <a:ext cx="95250" cy="952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315200" y="1028700"/>
            <a:ext cx="10553700" cy="8362950"/>
            <a:chOff x="7315200" y="1028700"/>
            <a:chExt cx="10553700" cy="8362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77799" y="1028700"/>
              <a:ext cx="4991099" cy="83629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200" y="1028700"/>
              <a:ext cx="5524499" cy="83629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75233" y="3031489"/>
            <a:ext cx="365569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345" dirty="0"/>
              <a:t>Web-</a:t>
            </a:r>
            <a:r>
              <a:rPr sz="2850" spc="145" dirty="0"/>
              <a:t>Scraped</a:t>
            </a:r>
            <a:r>
              <a:rPr sz="2850" spc="-135" dirty="0"/>
              <a:t> </a:t>
            </a:r>
            <a:r>
              <a:rPr sz="2850" spc="215" dirty="0"/>
              <a:t>Data</a:t>
            </a:r>
            <a:endParaRPr sz="2850"/>
          </a:p>
        </p:txBody>
      </p:sp>
      <p:sp>
        <p:nvSpPr>
          <p:cNvPr id="3" name="object 3"/>
          <p:cNvSpPr txBox="1"/>
          <p:nvPr/>
        </p:nvSpPr>
        <p:spPr>
          <a:xfrm>
            <a:off x="1080293" y="3911016"/>
            <a:ext cx="6298565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5"/>
              </a:spcBef>
            </a:pPr>
            <a:r>
              <a:rPr sz="2950" spc="-3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OPUS</a:t>
            </a:r>
            <a:r>
              <a:rPr sz="2950" spc="-2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2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/</a:t>
            </a:r>
            <a:r>
              <a:rPr sz="2950" spc="-2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Common</a:t>
            </a:r>
            <a:r>
              <a:rPr sz="2950" spc="-6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Crawl</a:t>
            </a:r>
            <a:r>
              <a:rPr sz="2950" spc="-1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6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2950" spc="-2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1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massive,</a:t>
            </a:r>
            <a:r>
              <a:rPr sz="29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9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varied </a:t>
            </a:r>
            <a:r>
              <a:rPr sz="29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internet</a:t>
            </a:r>
            <a:r>
              <a:rPr sz="2950" spc="-2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950" spc="-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text.</a:t>
            </a:r>
            <a:endParaRPr sz="29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42949" y="321944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3850" y="0"/>
            <a:ext cx="10020299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63" y="627380"/>
            <a:ext cx="617156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9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150" b="1" spc="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-2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9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10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endParaRPr sz="21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80" dirty="0"/>
              <a:t>Local</a:t>
            </a:r>
            <a:r>
              <a:rPr spc="-345" dirty="0"/>
              <a:t> </a:t>
            </a:r>
            <a:r>
              <a:rPr spc="430" dirty="0"/>
              <a:t>&amp;</a:t>
            </a:r>
            <a:r>
              <a:rPr spc="-340" dirty="0"/>
              <a:t> </a:t>
            </a:r>
            <a:r>
              <a:rPr spc="325" dirty="0"/>
              <a:t>Creative</a:t>
            </a:r>
            <a:r>
              <a:rPr spc="-340" dirty="0"/>
              <a:t> </a:t>
            </a:r>
            <a:r>
              <a:rPr spc="135" dirty="0"/>
              <a:t>Sources</a:t>
            </a:r>
            <a:endParaRPr spc="135" dirty="0"/>
          </a:p>
        </p:txBody>
      </p:sp>
      <p:grpSp>
        <p:nvGrpSpPr>
          <p:cNvPr id="4" name="object 4"/>
          <p:cNvGrpSpPr/>
          <p:nvPr/>
        </p:nvGrpSpPr>
        <p:grpSpPr>
          <a:xfrm>
            <a:off x="1066800" y="2426208"/>
            <a:ext cx="16175990" cy="3203575"/>
            <a:chOff x="1066800" y="2426208"/>
            <a:chExt cx="16175990" cy="3203575"/>
          </a:xfrm>
        </p:grpSpPr>
        <p:sp>
          <p:nvSpPr>
            <p:cNvPr id="5" name="object 5"/>
            <p:cNvSpPr/>
            <p:nvPr/>
          </p:nvSpPr>
          <p:spPr>
            <a:xfrm>
              <a:off x="1066800" y="2426208"/>
              <a:ext cx="16175990" cy="3203575"/>
            </a:xfrm>
            <a:custGeom>
              <a:avLst/>
              <a:gdLst/>
              <a:ahLst/>
              <a:cxnLst/>
              <a:rect l="l" t="t" r="r" b="b"/>
              <a:pathLst>
                <a:path w="16175990" h="3203575">
                  <a:moveTo>
                    <a:pt x="16175735" y="3203447"/>
                  </a:moveTo>
                  <a:lnTo>
                    <a:pt x="0" y="3203447"/>
                  </a:lnTo>
                  <a:lnTo>
                    <a:pt x="0" y="0"/>
                  </a:lnTo>
                  <a:lnTo>
                    <a:pt x="16175735" y="0"/>
                  </a:lnTo>
                  <a:lnTo>
                    <a:pt x="16175735" y="50291"/>
                  </a:lnTo>
                  <a:lnTo>
                    <a:pt x="152399" y="50291"/>
                  </a:lnTo>
                  <a:lnTo>
                    <a:pt x="143016" y="50745"/>
                  </a:lnTo>
                  <a:lnTo>
                    <a:pt x="99471" y="66329"/>
                  </a:lnTo>
                  <a:lnTo>
                    <a:pt x="68409" y="100595"/>
                  </a:lnTo>
                  <a:lnTo>
                    <a:pt x="57149" y="145541"/>
                  </a:lnTo>
                  <a:lnTo>
                    <a:pt x="57149" y="3041141"/>
                  </a:lnTo>
                  <a:lnTo>
                    <a:pt x="68409" y="3086087"/>
                  </a:lnTo>
                  <a:lnTo>
                    <a:pt x="99471" y="3120353"/>
                  </a:lnTo>
                  <a:lnTo>
                    <a:pt x="143016" y="3135938"/>
                  </a:lnTo>
                  <a:lnTo>
                    <a:pt x="152399" y="3136391"/>
                  </a:lnTo>
                  <a:lnTo>
                    <a:pt x="16175735" y="3136391"/>
                  </a:lnTo>
                  <a:lnTo>
                    <a:pt x="16175735" y="3203447"/>
                  </a:lnTo>
                  <a:close/>
                </a:path>
                <a:path w="16175990" h="3203575">
                  <a:moveTo>
                    <a:pt x="16175735" y="3136391"/>
                  </a:moveTo>
                  <a:lnTo>
                    <a:pt x="16021049" y="3136391"/>
                  </a:lnTo>
                  <a:lnTo>
                    <a:pt x="16030432" y="3135938"/>
                  </a:lnTo>
                  <a:lnTo>
                    <a:pt x="16039634" y="3134578"/>
                  </a:lnTo>
                  <a:lnTo>
                    <a:pt x="16081444" y="3114807"/>
                  </a:lnTo>
                  <a:lnTo>
                    <a:pt x="16109047" y="3077591"/>
                  </a:lnTo>
                  <a:lnTo>
                    <a:pt x="16116299" y="3041141"/>
                  </a:lnTo>
                  <a:lnTo>
                    <a:pt x="16116299" y="145541"/>
                  </a:lnTo>
                  <a:lnTo>
                    <a:pt x="16105036" y="100595"/>
                  </a:lnTo>
                  <a:lnTo>
                    <a:pt x="16073975" y="66329"/>
                  </a:lnTo>
                  <a:lnTo>
                    <a:pt x="16030432" y="50745"/>
                  </a:lnTo>
                  <a:lnTo>
                    <a:pt x="16021049" y="50291"/>
                  </a:lnTo>
                  <a:lnTo>
                    <a:pt x="16175735" y="50291"/>
                  </a:lnTo>
                  <a:lnTo>
                    <a:pt x="16175735" y="313639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14424" y="2466974"/>
              <a:ext cx="16078200" cy="3105150"/>
            </a:xfrm>
            <a:custGeom>
              <a:avLst/>
              <a:gdLst/>
              <a:ahLst/>
              <a:cxnLst/>
              <a:rect l="l" t="t" r="r" b="b"/>
              <a:pathLst>
                <a:path w="16078200" h="3105150">
                  <a:moveTo>
                    <a:pt x="15980303" y="3105149"/>
                  </a:moveTo>
                  <a:lnTo>
                    <a:pt x="97895" y="3105149"/>
                  </a:lnTo>
                  <a:lnTo>
                    <a:pt x="91081" y="3104478"/>
                  </a:lnTo>
                  <a:lnTo>
                    <a:pt x="52285" y="3091312"/>
                  </a:lnTo>
                  <a:lnTo>
                    <a:pt x="21479" y="3064304"/>
                  </a:lnTo>
                  <a:lnTo>
                    <a:pt x="3355" y="3027561"/>
                  </a:lnTo>
                  <a:lnTo>
                    <a:pt x="0" y="3007253"/>
                  </a:lnTo>
                  <a:lnTo>
                    <a:pt x="0" y="3000374"/>
                  </a:lnTo>
                  <a:lnTo>
                    <a:pt x="0" y="97895"/>
                  </a:lnTo>
                  <a:lnTo>
                    <a:pt x="10608" y="58322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15980303" y="0"/>
                  </a:lnTo>
                  <a:lnTo>
                    <a:pt x="16019873" y="10607"/>
                  </a:lnTo>
                  <a:lnTo>
                    <a:pt x="16052372" y="35552"/>
                  </a:lnTo>
                  <a:lnTo>
                    <a:pt x="16072854" y="71034"/>
                  </a:lnTo>
                  <a:lnTo>
                    <a:pt x="16078198" y="97895"/>
                  </a:lnTo>
                  <a:lnTo>
                    <a:pt x="16078198" y="3007253"/>
                  </a:lnTo>
                  <a:lnTo>
                    <a:pt x="16067587" y="3046825"/>
                  </a:lnTo>
                  <a:lnTo>
                    <a:pt x="16042645" y="3079325"/>
                  </a:lnTo>
                  <a:lnTo>
                    <a:pt x="16007160" y="3099805"/>
                  </a:lnTo>
                  <a:lnTo>
                    <a:pt x="15987115" y="3104478"/>
                  </a:lnTo>
                  <a:lnTo>
                    <a:pt x="15980303" y="3105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14424" y="2466974"/>
              <a:ext cx="16078200" cy="3105150"/>
            </a:xfrm>
            <a:custGeom>
              <a:avLst/>
              <a:gdLst/>
              <a:ahLst/>
              <a:cxnLst/>
              <a:rect l="l" t="t" r="r" b="b"/>
              <a:pathLst>
                <a:path w="16078200" h="3105150">
                  <a:moveTo>
                    <a:pt x="0" y="30003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8" y="58322"/>
                  </a:lnTo>
                  <a:lnTo>
                    <a:pt x="13835" y="52284"/>
                  </a:lnTo>
                  <a:lnTo>
                    <a:pt x="17657" y="46564"/>
                  </a:lnTo>
                  <a:lnTo>
                    <a:pt x="21479" y="40844"/>
                  </a:lnTo>
                  <a:lnTo>
                    <a:pt x="25823" y="35552"/>
                  </a:lnTo>
                  <a:lnTo>
                    <a:pt x="30687" y="30687"/>
                  </a:lnTo>
                  <a:lnTo>
                    <a:pt x="35552" y="25823"/>
                  </a:lnTo>
                  <a:lnTo>
                    <a:pt x="40844" y="21479"/>
                  </a:lnTo>
                  <a:lnTo>
                    <a:pt x="46565" y="17657"/>
                  </a:lnTo>
                  <a:lnTo>
                    <a:pt x="52285" y="13835"/>
                  </a:lnTo>
                  <a:lnTo>
                    <a:pt x="58323" y="10607"/>
                  </a:lnTo>
                  <a:lnTo>
                    <a:pt x="64679" y="7975"/>
                  </a:lnTo>
                  <a:lnTo>
                    <a:pt x="71035" y="5342"/>
                  </a:lnTo>
                  <a:lnTo>
                    <a:pt x="77586" y="3355"/>
                  </a:lnTo>
                  <a:lnTo>
                    <a:pt x="84334" y="2012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15973423" y="0"/>
                  </a:lnTo>
                  <a:lnTo>
                    <a:pt x="15980303" y="0"/>
                  </a:lnTo>
                  <a:lnTo>
                    <a:pt x="15987115" y="670"/>
                  </a:lnTo>
                  <a:lnTo>
                    <a:pt x="15993863" y="2012"/>
                  </a:lnTo>
                  <a:lnTo>
                    <a:pt x="16000609" y="3355"/>
                  </a:lnTo>
                  <a:lnTo>
                    <a:pt x="16007160" y="5342"/>
                  </a:lnTo>
                  <a:lnTo>
                    <a:pt x="16013516" y="7975"/>
                  </a:lnTo>
                  <a:lnTo>
                    <a:pt x="16019873" y="10607"/>
                  </a:lnTo>
                  <a:lnTo>
                    <a:pt x="16025911" y="13835"/>
                  </a:lnTo>
                  <a:lnTo>
                    <a:pt x="16031631" y="17657"/>
                  </a:lnTo>
                  <a:lnTo>
                    <a:pt x="16037352" y="21479"/>
                  </a:lnTo>
                  <a:lnTo>
                    <a:pt x="16042645" y="25823"/>
                  </a:lnTo>
                  <a:lnTo>
                    <a:pt x="16047508" y="30687"/>
                  </a:lnTo>
                  <a:lnTo>
                    <a:pt x="16052372" y="35552"/>
                  </a:lnTo>
                  <a:lnTo>
                    <a:pt x="16072854" y="71034"/>
                  </a:lnTo>
                  <a:lnTo>
                    <a:pt x="16078198" y="97895"/>
                  </a:lnTo>
                  <a:lnTo>
                    <a:pt x="16078198" y="104774"/>
                  </a:lnTo>
                  <a:lnTo>
                    <a:pt x="16078198" y="3000374"/>
                  </a:lnTo>
                  <a:lnTo>
                    <a:pt x="16078198" y="3007253"/>
                  </a:lnTo>
                  <a:lnTo>
                    <a:pt x="16077527" y="3014067"/>
                  </a:lnTo>
                  <a:lnTo>
                    <a:pt x="16064360" y="3052863"/>
                  </a:lnTo>
                  <a:lnTo>
                    <a:pt x="16060538" y="3058583"/>
                  </a:lnTo>
                  <a:lnTo>
                    <a:pt x="16056716" y="3064304"/>
                  </a:lnTo>
                  <a:lnTo>
                    <a:pt x="16031630" y="3087490"/>
                  </a:lnTo>
                  <a:lnTo>
                    <a:pt x="16025911" y="3091312"/>
                  </a:lnTo>
                  <a:lnTo>
                    <a:pt x="15987115" y="3104478"/>
                  </a:lnTo>
                  <a:lnTo>
                    <a:pt x="15973423" y="3105149"/>
                  </a:lnTo>
                  <a:lnTo>
                    <a:pt x="104775" y="3105149"/>
                  </a:lnTo>
                  <a:lnTo>
                    <a:pt x="64679" y="3097173"/>
                  </a:lnTo>
                  <a:lnTo>
                    <a:pt x="30687" y="3074461"/>
                  </a:lnTo>
                  <a:lnTo>
                    <a:pt x="17657" y="3058583"/>
                  </a:lnTo>
                  <a:lnTo>
                    <a:pt x="13835" y="3052863"/>
                  </a:lnTo>
                  <a:lnTo>
                    <a:pt x="2013" y="3020814"/>
                  </a:lnTo>
                  <a:lnTo>
                    <a:pt x="671" y="3014067"/>
                  </a:lnTo>
                  <a:lnTo>
                    <a:pt x="0" y="3007253"/>
                  </a:lnTo>
                  <a:lnTo>
                    <a:pt x="0" y="3000374"/>
                  </a:lnTo>
                  <a:close/>
                </a:path>
              </a:pathLst>
            </a:custGeom>
            <a:ln w="19049">
              <a:solidFill>
                <a:srgbClr val="F2F4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642268" y="2802889"/>
            <a:ext cx="12315825" cy="24168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b="1" spc="16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2850" b="1" spc="-17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3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Digital</a:t>
            </a:r>
            <a:r>
              <a:rPr sz="2850" b="1" spc="-17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8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850" b="1" spc="-17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22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850" b="1" spc="-17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9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Apps</a:t>
            </a:r>
            <a:endParaRPr sz="28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830"/>
              </a:spcBef>
            </a:pPr>
            <a:r>
              <a:rPr sz="2450" spc="-1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Scraping</a:t>
            </a:r>
            <a:r>
              <a:rPr sz="2450" spc="-2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bilingual</a:t>
            </a:r>
            <a:r>
              <a:rPr sz="24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app</a:t>
            </a:r>
            <a:r>
              <a:rPr sz="2450" spc="-1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localizations,</a:t>
            </a:r>
            <a:r>
              <a:rPr sz="24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user</a:t>
            </a:r>
            <a:r>
              <a:rPr sz="2450" spc="-2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manuals,</a:t>
            </a:r>
            <a:r>
              <a:rPr sz="2450" spc="-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450" spc="-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Terms</a:t>
            </a:r>
            <a:r>
              <a:rPr sz="2450" spc="-1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450" spc="-2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Service </a:t>
            </a:r>
            <a:r>
              <a:rPr sz="24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45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major</a:t>
            </a:r>
            <a:r>
              <a:rPr sz="2450" spc="-2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local</a:t>
            </a:r>
            <a:r>
              <a:rPr sz="24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entities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12700" marR="458470">
              <a:lnSpc>
                <a:spcPts val="4800"/>
              </a:lnSpc>
              <a:spcBef>
                <a:spcPts val="270"/>
              </a:spcBef>
            </a:pPr>
            <a:r>
              <a:rPr sz="2450" spc="5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2450" spc="-2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Ethio</a:t>
            </a:r>
            <a:r>
              <a:rPr sz="2450" spc="-1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Telecom</a:t>
            </a:r>
            <a:r>
              <a:rPr sz="2450" spc="-11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20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/</a:t>
            </a:r>
            <a:r>
              <a:rPr sz="2450" spc="-1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Telebirr,</a:t>
            </a:r>
            <a:r>
              <a:rPr sz="24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Commercial</a:t>
            </a:r>
            <a:r>
              <a:rPr sz="24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Bank</a:t>
            </a:r>
            <a:r>
              <a:rPr sz="2450" spc="-2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450" spc="-2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Ethiopia,</a:t>
            </a:r>
            <a:r>
              <a:rPr sz="24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Ethiopian</a:t>
            </a:r>
            <a:r>
              <a:rPr sz="2450" spc="-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Airlines.</a:t>
            </a:r>
            <a:r>
              <a:rPr sz="2450" spc="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These</a:t>
            </a:r>
            <a:r>
              <a:rPr sz="2450" spc="-1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companies </a:t>
            </a:r>
            <a:r>
              <a:rPr sz="2450" spc="-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maintain</a:t>
            </a:r>
            <a:r>
              <a:rPr sz="2450" spc="-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high-</a:t>
            </a:r>
            <a:r>
              <a:rPr sz="2450" spc="-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quality</a:t>
            </a:r>
            <a:r>
              <a:rPr sz="2450" spc="-2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English</a:t>
            </a:r>
            <a:r>
              <a:rPr sz="24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450" spc="-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Amharic</a:t>
            </a:r>
            <a:r>
              <a:rPr sz="2450" spc="-1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4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versions</a:t>
            </a:r>
            <a:r>
              <a:rPr sz="2450" spc="-1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450" spc="-2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identical</a:t>
            </a:r>
            <a:r>
              <a:rPr sz="24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text.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66800" y="5855208"/>
            <a:ext cx="16175990" cy="2615565"/>
            <a:chOff x="1066800" y="5855208"/>
            <a:chExt cx="16175990" cy="2615565"/>
          </a:xfrm>
        </p:grpSpPr>
        <p:sp>
          <p:nvSpPr>
            <p:cNvPr id="10" name="object 10"/>
            <p:cNvSpPr/>
            <p:nvPr/>
          </p:nvSpPr>
          <p:spPr>
            <a:xfrm>
              <a:off x="1066800" y="5855208"/>
              <a:ext cx="16175990" cy="2615565"/>
            </a:xfrm>
            <a:custGeom>
              <a:avLst/>
              <a:gdLst/>
              <a:ahLst/>
              <a:cxnLst/>
              <a:rect l="l" t="t" r="r" b="b"/>
              <a:pathLst>
                <a:path w="16175990" h="2615565">
                  <a:moveTo>
                    <a:pt x="16175735" y="2615183"/>
                  </a:moveTo>
                  <a:lnTo>
                    <a:pt x="0" y="2615183"/>
                  </a:lnTo>
                  <a:lnTo>
                    <a:pt x="0" y="0"/>
                  </a:lnTo>
                  <a:lnTo>
                    <a:pt x="16175735" y="0"/>
                  </a:lnTo>
                  <a:lnTo>
                    <a:pt x="16175735" y="50291"/>
                  </a:lnTo>
                  <a:lnTo>
                    <a:pt x="152399" y="50291"/>
                  </a:lnTo>
                  <a:lnTo>
                    <a:pt x="143016" y="50745"/>
                  </a:lnTo>
                  <a:lnTo>
                    <a:pt x="99471" y="66329"/>
                  </a:lnTo>
                  <a:lnTo>
                    <a:pt x="68409" y="100595"/>
                  </a:lnTo>
                  <a:lnTo>
                    <a:pt x="57149" y="145541"/>
                  </a:lnTo>
                  <a:lnTo>
                    <a:pt x="57149" y="2450591"/>
                  </a:lnTo>
                  <a:lnTo>
                    <a:pt x="68409" y="2495536"/>
                  </a:lnTo>
                  <a:lnTo>
                    <a:pt x="99471" y="2529803"/>
                  </a:lnTo>
                  <a:lnTo>
                    <a:pt x="143016" y="2545388"/>
                  </a:lnTo>
                  <a:lnTo>
                    <a:pt x="152399" y="2545841"/>
                  </a:lnTo>
                  <a:lnTo>
                    <a:pt x="16175735" y="2545841"/>
                  </a:lnTo>
                  <a:lnTo>
                    <a:pt x="16175735" y="2615183"/>
                  </a:lnTo>
                  <a:close/>
                </a:path>
                <a:path w="16175990" h="2615565">
                  <a:moveTo>
                    <a:pt x="16175735" y="2545841"/>
                  </a:moveTo>
                  <a:lnTo>
                    <a:pt x="16021049" y="2545841"/>
                  </a:lnTo>
                  <a:lnTo>
                    <a:pt x="16030432" y="2545388"/>
                  </a:lnTo>
                  <a:lnTo>
                    <a:pt x="16039634" y="2544028"/>
                  </a:lnTo>
                  <a:lnTo>
                    <a:pt x="16081444" y="2524257"/>
                  </a:lnTo>
                  <a:lnTo>
                    <a:pt x="16109047" y="2487040"/>
                  </a:lnTo>
                  <a:lnTo>
                    <a:pt x="16116299" y="2450591"/>
                  </a:lnTo>
                  <a:lnTo>
                    <a:pt x="16116299" y="145541"/>
                  </a:lnTo>
                  <a:lnTo>
                    <a:pt x="16105036" y="100595"/>
                  </a:lnTo>
                  <a:lnTo>
                    <a:pt x="16073975" y="66329"/>
                  </a:lnTo>
                  <a:lnTo>
                    <a:pt x="16030432" y="50745"/>
                  </a:lnTo>
                  <a:lnTo>
                    <a:pt x="16021049" y="50291"/>
                  </a:lnTo>
                  <a:lnTo>
                    <a:pt x="16175735" y="50291"/>
                  </a:lnTo>
                  <a:lnTo>
                    <a:pt x="16175735" y="254584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14424" y="5895974"/>
              <a:ext cx="16078200" cy="2514600"/>
            </a:xfrm>
            <a:custGeom>
              <a:avLst/>
              <a:gdLst/>
              <a:ahLst/>
              <a:cxnLst/>
              <a:rect l="l" t="t" r="r" b="b"/>
              <a:pathLst>
                <a:path w="16078200" h="2514600">
                  <a:moveTo>
                    <a:pt x="15980303" y="2514599"/>
                  </a:moveTo>
                  <a:lnTo>
                    <a:pt x="97895" y="2514599"/>
                  </a:lnTo>
                  <a:lnTo>
                    <a:pt x="91081" y="2513928"/>
                  </a:lnTo>
                  <a:lnTo>
                    <a:pt x="52285" y="2500763"/>
                  </a:lnTo>
                  <a:lnTo>
                    <a:pt x="21479" y="2473753"/>
                  </a:lnTo>
                  <a:lnTo>
                    <a:pt x="3355" y="2437012"/>
                  </a:lnTo>
                  <a:lnTo>
                    <a:pt x="0" y="2416703"/>
                  </a:lnTo>
                  <a:lnTo>
                    <a:pt x="0" y="2409824"/>
                  </a:lnTo>
                  <a:lnTo>
                    <a:pt x="0" y="97894"/>
                  </a:lnTo>
                  <a:lnTo>
                    <a:pt x="10608" y="58322"/>
                  </a:lnTo>
                  <a:lnTo>
                    <a:pt x="35552" y="25822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15980303" y="0"/>
                  </a:lnTo>
                  <a:lnTo>
                    <a:pt x="16019873" y="10608"/>
                  </a:lnTo>
                  <a:lnTo>
                    <a:pt x="16052372" y="35551"/>
                  </a:lnTo>
                  <a:lnTo>
                    <a:pt x="16072854" y="71034"/>
                  </a:lnTo>
                  <a:lnTo>
                    <a:pt x="16078198" y="97894"/>
                  </a:lnTo>
                  <a:lnTo>
                    <a:pt x="16078198" y="2416703"/>
                  </a:lnTo>
                  <a:lnTo>
                    <a:pt x="16067587" y="2456275"/>
                  </a:lnTo>
                  <a:lnTo>
                    <a:pt x="16042645" y="2488775"/>
                  </a:lnTo>
                  <a:lnTo>
                    <a:pt x="16007160" y="2509255"/>
                  </a:lnTo>
                  <a:lnTo>
                    <a:pt x="15987115" y="2513928"/>
                  </a:lnTo>
                  <a:lnTo>
                    <a:pt x="15980303" y="2514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14424" y="5895974"/>
              <a:ext cx="16078200" cy="2514600"/>
            </a:xfrm>
            <a:custGeom>
              <a:avLst/>
              <a:gdLst/>
              <a:ahLst/>
              <a:cxnLst/>
              <a:rect l="l" t="t" r="r" b="b"/>
              <a:pathLst>
                <a:path w="16078200" h="2514600">
                  <a:moveTo>
                    <a:pt x="0" y="2409824"/>
                  </a:moveTo>
                  <a:lnTo>
                    <a:pt x="0" y="104774"/>
                  </a:lnTo>
                  <a:lnTo>
                    <a:pt x="0" y="97894"/>
                  </a:lnTo>
                  <a:lnTo>
                    <a:pt x="671" y="91081"/>
                  </a:lnTo>
                  <a:lnTo>
                    <a:pt x="13835" y="52284"/>
                  </a:lnTo>
                  <a:lnTo>
                    <a:pt x="17657" y="46564"/>
                  </a:lnTo>
                  <a:lnTo>
                    <a:pt x="21479" y="40843"/>
                  </a:lnTo>
                  <a:lnTo>
                    <a:pt x="25823" y="35551"/>
                  </a:lnTo>
                  <a:lnTo>
                    <a:pt x="30687" y="30687"/>
                  </a:lnTo>
                  <a:lnTo>
                    <a:pt x="35552" y="25822"/>
                  </a:lnTo>
                  <a:lnTo>
                    <a:pt x="40844" y="21479"/>
                  </a:lnTo>
                  <a:lnTo>
                    <a:pt x="46565" y="17657"/>
                  </a:lnTo>
                  <a:lnTo>
                    <a:pt x="52285" y="13835"/>
                  </a:lnTo>
                  <a:lnTo>
                    <a:pt x="58323" y="10608"/>
                  </a:lnTo>
                  <a:lnTo>
                    <a:pt x="64679" y="7975"/>
                  </a:lnTo>
                  <a:lnTo>
                    <a:pt x="71035" y="5342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15973423" y="0"/>
                  </a:lnTo>
                  <a:lnTo>
                    <a:pt x="15980303" y="0"/>
                  </a:lnTo>
                  <a:lnTo>
                    <a:pt x="15987115" y="670"/>
                  </a:lnTo>
                  <a:lnTo>
                    <a:pt x="15993863" y="2013"/>
                  </a:lnTo>
                  <a:lnTo>
                    <a:pt x="16000609" y="3355"/>
                  </a:lnTo>
                  <a:lnTo>
                    <a:pt x="16007160" y="5342"/>
                  </a:lnTo>
                  <a:lnTo>
                    <a:pt x="16013516" y="7975"/>
                  </a:lnTo>
                  <a:lnTo>
                    <a:pt x="16019873" y="10608"/>
                  </a:lnTo>
                  <a:lnTo>
                    <a:pt x="16025911" y="13835"/>
                  </a:lnTo>
                  <a:lnTo>
                    <a:pt x="16031631" y="17657"/>
                  </a:lnTo>
                  <a:lnTo>
                    <a:pt x="16037352" y="21479"/>
                  </a:lnTo>
                  <a:lnTo>
                    <a:pt x="16042645" y="25822"/>
                  </a:lnTo>
                  <a:lnTo>
                    <a:pt x="16047508" y="30687"/>
                  </a:lnTo>
                  <a:lnTo>
                    <a:pt x="16052372" y="35551"/>
                  </a:lnTo>
                  <a:lnTo>
                    <a:pt x="16072854" y="71034"/>
                  </a:lnTo>
                  <a:lnTo>
                    <a:pt x="16078198" y="97894"/>
                  </a:lnTo>
                  <a:lnTo>
                    <a:pt x="16078198" y="104774"/>
                  </a:lnTo>
                  <a:lnTo>
                    <a:pt x="16078198" y="2409824"/>
                  </a:lnTo>
                  <a:lnTo>
                    <a:pt x="16078198" y="2416703"/>
                  </a:lnTo>
                  <a:lnTo>
                    <a:pt x="16077527" y="2423517"/>
                  </a:lnTo>
                  <a:lnTo>
                    <a:pt x="16064360" y="2462314"/>
                  </a:lnTo>
                  <a:lnTo>
                    <a:pt x="16047508" y="2483911"/>
                  </a:lnTo>
                  <a:lnTo>
                    <a:pt x="16042645" y="2488775"/>
                  </a:lnTo>
                  <a:lnTo>
                    <a:pt x="16037352" y="2493119"/>
                  </a:lnTo>
                  <a:lnTo>
                    <a:pt x="16031630" y="2496941"/>
                  </a:lnTo>
                  <a:lnTo>
                    <a:pt x="16025911" y="2500763"/>
                  </a:lnTo>
                  <a:lnTo>
                    <a:pt x="16019873" y="2503990"/>
                  </a:lnTo>
                  <a:lnTo>
                    <a:pt x="16013516" y="2506622"/>
                  </a:lnTo>
                  <a:lnTo>
                    <a:pt x="16007160" y="2509255"/>
                  </a:lnTo>
                  <a:lnTo>
                    <a:pt x="16000609" y="2511243"/>
                  </a:lnTo>
                  <a:lnTo>
                    <a:pt x="15993863" y="2512586"/>
                  </a:lnTo>
                  <a:lnTo>
                    <a:pt x="15987115" y="2513928"/>
                  </a:lnTo>
                  <a:lnTo>
                    <a:pt x="15980303" y="2514599"/>
                  </a:lnTo>
                  <a:lnTo>
                    <a:pt x="15973423" y="2514599"/>
                  </a:lnTo>
                  <a:lnTo>
                    <a:pt x="104775" y="2514599"/>
                  </a:lnTo>
                  <a:lnTo>
                    <a:pt x="97895" y="2514599"/>
                  </a:lnTo>
                  <a:lnTo>
                    <a:pt x="91081" y="2513928"/>
                  </a:lnTo>
                  <a:lnTo>
                    <a:pt x="52285" y="2500763"/>
                  </a:lnTo>
                  <a:lnTo>
                    <a:pt x="46565" y="2496941"/>
                  </a:lnTo>
                  <a:lnTo>
                    <a:pt x="40844" y="2493119"/>
                  </a:lnTo>
                  <a:lnTo>
                    <a:pt x="35552" y="2488775"/>
                  </a:lnTo>
                  <a:lnTo>
                    <a:pt x="30687" y="2483911"/>
                  </a:lnTo>
                  <a:lnTo>
                    <a:pt x="25823" y="2479046"/>
                  </a:lnTo>
                  <a:lnTo>
                    <a:pt x="21479" y="2473753"/>
                  </a:lnTo>
                  <a:lnTo>
                    <a:pt x="17657" y="2468033"/>
                  </a:lnTo>
                  <a:lnTo>
                    <a:pt x="13835" y="2462313"/>
                  </a:lnTo>
                  <a:lnTo>
                    <a:pt x="10608" y="2456274"/>
                  </a:lnTo>
                  <a:lnTo>
                    <a:pt x="7975" y="2449918"/>
                  </a:lnTo>
                  <a:lnTo>
                    <a:pt x="5342" y="2443563"/>
                  </a:lnTo>
                  <a:lnTo>
                    <a:pt x="3355" y="2437012"/>
                  </a:lnTo>
                  <a:lnTo>
                    <a:pt x="2013" y="2430264"/>
                  </a:lnTo>
                  <a:lnTo>
                    <a:pt x="671" y="2423517"/>
                  </a:lnTo>
                  <a:lnTo>
                    <a:pt x="0" y="2416703"/>
                  </a:lnTo>
                  <a:lnTo>
                    <a:pt x="0" y="2409824"/>
                  </a:lnTo>
                  <a:close/>
                </a:path>
              </a:pathLst>
            </a:custGeom>
            <a:ln w="19049">
              <a:solidFill>
                <a:srgbClr val="F2F4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642268" y="6231889"/>
            <a:ext cx="12134215" cy="18072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b="1" spc="5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Local</a:t>
            </a:r>
            <a:r>
              <a:rPr sz="2850" b="1" spc="-17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204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Media</a:t>
            </a:r>
            <a:r>
              <a:rPr sz="2850" b="1" spc="-17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0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Subtitles</a:t>
            </a:r>
            <a:r>
              <a:rPr sz="2850" b="1" spc="-17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22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850" b="1" spc="-17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1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Transcripts</a:t>
            </a:r>
            <a:endParaRPr sz="2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63000"/>
              </a:lnSpc>
              <a:spcBef>
                <a:spcPts val="965"/>
              </a:spcBef>
            </a:pPr>
            <a:r>
              <a:rPr sz="2450" spc="-10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Harvesting</a:t>
            </a:r>
            <a:r>
              <a:rPr sz="2450" spc="-2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transcripts</a:t>
            </a:r>
            <a:r>
              <a:rPr sz="2450" spc="-1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450" spc="-10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bilingual</a:t>
            </a:r>
            <a:r>
              <a:rPr sz="2450" spc="-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YouTube</a:t>
            </a:r>
            <a:r>
              <a:rPr sz="2450" spc="-13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creators</a:t>
            </a:r>
            <a:r>
              <a:rPr sz="24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and</a:t>
            </a:r>
            <a:r>
              <a:rPr sz="2450" spc="-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closed-</a:t>
            </a:r>
            <a:r>
              <a:rPr sz="2450" spc="-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captioning</a:t>
            </a:r>
            <a:r>
              <a:rPr sz="2450" spc="-2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files</a:t>
            </a:r>
            <a:r>
              <a:rPr sz="2450" spc="-13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450" spc="-10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8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local</a:t>
            </a:r>
            <a:r>
              <a:rPr sz="2450" spc="-6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TV </a:t>
            </a:r>
            <a:r>
              <a:rPr sz="24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networks</a:t>
            </a:r>
            <a:r>
              <a:rPr sz="2450" spc="-1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(Kana</a:t>
            </a:r>
            <a:r>
              <a:rPr sz="2450" spc="-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3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TV,</a:t>
            </a:r>
            <a:r>
              <a:rPr sz="2450" spc="-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31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EBS)</a:t>
            </a:r>
            <a:r>
              <a:rPr sz="2450" spc="2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450" spc="-19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regularly</a:t>
            </a:r>
            <a:r>
              <a:rPr sz="2450" spc="-2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translate</a:t>
            </a:r>
            <a:r>
              <a:rPr sz="2450" spc="-1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international</a:t>
            </a:r>
            <a:r>
              <a:rPr sz="2450" spc="-8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content.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6700" y="152399"/>
            <a:ext cx="17716500" cy="9791700"/>
            <a:chOff x="266700" y="152399"/>
            <a:chExt cx="17716500" cy="97917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315450" y="247649"/>
              <a:ext cx="8667749" cy="96964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00" y="228599"/>
              <a:ext cx="9067800" cy="96583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315450" y="152399"/>
              <a:ext cx="0" cy="9775190"/>
            </a:xfrm>
            <a:custGeom>
              <a:avLst/>
              <a:gdLst/>
              <a:ahLst/>
              <a:cxnLst/>
              <a:rect l="l" t="t" r="r" b="b"/>
              <a:pathLst>
                <a:path h="9775190">
                  <a:moveTo>
                    <a:pt x="0" y="0"/>
                  </a:moveTo>
                  <a:lnTo>
                    <a:pt x="0" y="977512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28800" y="6934200"/>
            <a:ext cx="14687547" cy="21145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9" y="895349"/>
            <a:ext cx="6915149" cy="56578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895350"/>
            <a:ext cx="7391399" cy="56578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914400" y="1409700"/>
            <a:ext cx="8991600" cy="8382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9" name="Rounded Rectangle 8"/>
          <p:cNvSpPr/>
          <p:nvPr/>
        </p:nvSpPr>
        <p:spPr>
          <a:xfrm>
            <a:off x="9525000" y="70485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Rounded Rectangle 7"/>
          <p:cNvSpPr/>
          <p:nvPr/>
        </p:nvSpPr>
        <p:spPr>
          <a:xfrm>
            <a:off x="1447800" y="6972300"/>
            <a:ext cx="1371600" cy="6096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" name="Rounded Rectangle 5"/>
          <p:cNvSpPr/>
          <p:nvPr/>
        </p:nvSpPr>
        <p:spPr>
          <a:xfrm>
            <a:off x="9525000" y="3903345"/>
            <a:ext cx="1447800" cy="5543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5" name="Rounded Rectangle 4"/>
          <p:cNvSpPr/>
          <p:nvPr/>
        </p:nvSpPr>
        <p:spPr>
          <a:xfrm>
            <a:off x="1371600" y="3771900"/>
            <a:ext cx="1371600" cy="6096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" name="object 2"/>
          <p:cNvSpPr txBox="1"/>
          <p:nvPr/>
        </p:nvSpPr>
        <p:spPr>
          <a:xfrm>
            <a:off x="1083945" y="627380"/>
            <a:ext cx="8928100" cy="382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sz="240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sz="240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sz="240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2400" b="1" spc="25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sz="240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—</a:t>
            </a:r>
            <a:r>
              <a:rPr sz="240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40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40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240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sz="2400" b="1" spc="-17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40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sz="240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sz="240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40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40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sz="240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sz="240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</a:t>
            </a:r>
            <a:endParaRPr sz="2400" b="1" spc="-5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14643" y="1485963"/>
            <a:ext cx="16119673" cy="5702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2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Core</a:t>
            </a:r>
            <a:r>
              <a:rPr sz="3600" spc="-3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600" spc="1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Preprocessing</a:t>
            </a:r>
            <a:r>
              <a:rPr sz="3600" spc="-3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600" spc="1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Philosophy</a:t>
            </a:r>
            <a:r>
              <a:rPr sz="3600" spc="-3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600" spc="4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sz="3600" spc="-3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600" spc="1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Goals</a:t>
            </a:r>
            <a:endParaRPr sz="3600" spc="14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3199" y="2479920"/>
            <a:ext cx="15155544" cy="10001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b="1" spc="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3200" b="1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“Garbage</a:t>
            </a:r>
            <a:r>
              <a:rPr sz="3200" b="1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In,</a:t>
            </a:r>
            <a:r>
              <a:rPr sz="3200" b="1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Garbage</a:t>
            </a:r>
            <a:r>
              <a:rPr sz="3200" b="1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Out”</a:t>
            </a:r>
            <a:r>
              <a:rPr sz="3200" b="1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Rule:</a:t>
            </a:r>
            <a:r>
              <a:rPr sz="3200" b="1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Models</a:t>
            </a:r>
            <a:r>
              <a:rPr sz="320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learn</a:t>
            </a:r>
            <a:r>
              <a:rPr sz="320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directly</a:t>
            </a:r>
            <a:r>
              <a:rPr sz="3200" spc="-2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from</a:t>
            </a:r>
            <a:r>
              <a:rPr sz="3200" spc="-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parallel</a:t>
            </a:r>
            <a:r>
              <a:rPr sz="320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examples.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Quality</a:t>
            </a:r>
            <a:r>
              <a:rPr sz="3200" spc="-20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</a:t>
            </a:r>
            <a:r>
              <a:rPr sz="3200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overrides</a:t>
            </a:r>
            <a:r>
              <a:rPr sz="320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architecture</a:t>
            </a:r>
            <a:r>
              <a:rPr sz="320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size</a:t>
            </a:r>
            <a:r>
              <a:rPr sz="24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400" spc="-2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4150" y="3728085"/>
            <a:ext cx="6713220" cy="3141980"/>
          </a:xfrm>
          <a:prstGeom prst="rect">
            <a:avLst/>
          </a:prstGeom>
        </p:spPr>
        <p:txBody>
          <a:bodyPr vert="horz" wrap="square" lIns="0" tIns="22225" rIns="0" bIns="0" rtlCol="0">
            <a:noAutofit/>
          </a:bodyPr>
          <a:lstStyle/>
          <a:p>
            <a:pPr marL="12700" marR="5080">
              <a:lnSpc>
                <a:spcPct val="127000"/>
              </a:lnSpc>
              <a:spcBef>
                <a:spcPts val="175"/>
              </a:spcBef>
            </a:pPr>
            <a:r>
              <a:rPr sz="3200" b="1" spc="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Goal</a:t>
            </a:r>
            <a:r>
              <a:rPr sz="3200" b="1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-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1:</a:t>
            </a:r>
            <a:r>
              <a:rPr sz="3200" b="1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Noise</a:t>
            </a:r>
            <a:r>
              <a:rPr sz="3200" b="1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Removal</a:t>
            </a:r>
            <a:r>
              <a:rPr sz="3200" b="1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1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sz="3200" b="1" spc="-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Lexicon</a:t>
            </a:r>
            <a:r>
              <a:rPr sz="3200" b="1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Purge </a:t>
            </a:r>
            <a:r>
              <a:rPr sz="320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Eliminate</a:t>
            </a:r>
            <a:r>
              <a:rPr sz="320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subtitle</a:t>
            </a:r>
            <a:r>
              <a:rPr sz="320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timing</a:t>
            </a:r>
            <a:r>
              <a:rPr sz="3200" spc="-1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markers,</a:t>
            </a:r>
            <a:r>
              <a:rPr sz="3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speaker</a:t>
            </a:r>
            <a:r>
              <a:rPr sz="3200" spc="-1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labels,</a:t>
            </a:r>
            <a:r>
              <a:rPr sz="3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empty</a:t>
            </a:r>
            <a:r>
              <a:rPr sz="3200" spc="-1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lines, </a:t>
            </a:r>
            <a:r>
              <a:rPr sz="3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3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mismatched</a:t>
            </a:r>
            <a:r>
              <a:rPr sz="3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language</a:t>
            </a:r>
            <a:r>
              <a:rPr sz="3200" spc="-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strings.</a:t>
            </a:r>
            <a:endParaRPr sz="320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45649" y="3727914"/>
            <a:ext cx="6982459" cy="25228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ct val="127000"/>
              </a:lnSpc>
              <a:spcBef>
                <a:spcPts val="175"/>
              </a:spcBef>
            </a:pPr>
            <a:r>
              <a:rPr sz="3200" b="1" spc="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Goal</a:t>
            </a:r>
            <a:r>
              <a:rPr sz="3200" b="1" spc="-1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-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2:</a:t>
            </a:r>
            <a:r>
              <a:rPr sz="320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Optimizing</a:t>
            </a:r>
            <a:r>
              <a:rPr sz="3200" b="1" spc="-1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Subword</a:t>
            </a:r>
            <a:r>
              <a:rPr sz="320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1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Vocabulary </a:t>
            </a:r>
            <a:r>
              <a:rPr sz="320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Standardize</a:t>
            </a:r>
            <a:r>
              <a:rPr sz="320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spacing</a:t>
            </a:r>
            <a:r>
              <a:rPr sz="3200" spc="-1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32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punctuation</a:t>
            </a:r>
            <a:r>
              <a:rPr sz="3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3200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ensure</a:t>
            </a:r>
            <a:r>
              <a:rPr sz="320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cleanly</a:t>
            </a:r>
            <a:r>
              <a:rPr sz="3200" spc="-1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aligned </a:t>
            </a:r>
            <a:r>
              <a:rPr sz="320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token</a:t>
            </a:r>
            <a:r>
              <a:rPr sz="32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boundaries</a:t>
            </a:r>
            <a:r>
              <a:rPr sz="320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3200" spc="-1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SentencePiece</a:t>
            </a:r>
            <a:r>
              <a:rPr sz="320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BPE</a:t>
            </a:r>
            <a:r>
              <a:rPr sz="24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400" spc="-2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54149" y="6871163"/>
            <a:ext cx="6824980" cy="25228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ct val="127000"/>
              </a:lnSpc>
              <a:spcBef>
                <a:spcPts val="175"/>
              </a:spcBef>
            </a:pPr>
            <a:r>
              <a:rPr sz="3200" b="1" spc="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Goal</a:t>
            </a:r>
            <a:r>
              <a:rPr sz="3200" b="1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3:</a:t>
            </a:r>
            <a:r>
              <a:rPr sz="3200" b="1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VRAM</a:t>
            </a:r>
            <a:r>
              <a:rPr sz="3200" b="1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2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Out-</a:t>
            </a:r>
            <a:r>
              <a:rPr sz="3200" b="1" spc="2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of-</a:t>
            </a:r>
            <a:r>
              <a:rPr sz="3200" b="1" spc="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Memory</a:t>
            </a:r>
            <a:r>
              <a:rPr sz="3200" b="1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Protection </a:t>
            </a:r>
            <a:r>
              <a:rPr sz="3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Filter</a:t>
            </a:r>
            <a:r>
              <a:rPr sz="3200" spc="-1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out</a:t>
            </a:r>
            <a:r>
              <a:rPr sz="3200" spc="-1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sequence</a:t>
            </a:r>
            <a:r>
              <a:rPr sz="3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lengths</a:t>
            </a:r>
            <a:r>
              <a:rPr sz="3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exceeding</a:t>
            </a:r>
            <a:r>
              <a:rPr sz="3200" spc="-1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100</a:t>
            </a:r>
            <a:r>
              <a:rPr sz="3200" spc="-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words</a:t>
            </a:r>
            <a:r>
              <a:rPr sz="320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320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safeguard </a:t>
            </a:r>
            <a:r>
              <a:rPr sz="3200" spc="-3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GPU</a:t>
            </a:r>
            <a:r>
              <a:rPr sz="3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performance</a:t>
            </a:r>
            <a:r>
              <a:rPr sz="3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during</a:t>
            </a:r>
            <a:r>
              <a:rPr sz="3200" spc="-1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training</a:t>
            </a:r>
            <a:r>
              <a:rPr sz="3200" spc="-1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epochs.</a:t>
            </a:r>
            <a:endParaRPr sz="320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645649" y="6871163"/>
            <a:ext cx="7006590" cy="25228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ct val="127000"/>
              </a:lnSpc>
              <a:spcBef>
                <a:spcPts val="175"/>
              </a:spcBef>
            </a:pPr>
            <a:r>
              <a:rPr sz="3200" b="1" spc="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Goal</a:t>
            </a:r>
            <a:r>
              <a:rPr sz="320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4:</a:t>
            </a:r>
            <a:r>
              <a:rPr sz="320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Scientific</a:t>
            </a:r>
            <a:r>
              <a:rPr sz="320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Length</a:t>
            </a:r>
            <a:r>
              <a:rPr sz="320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b="1" spc="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Stratification </a:t>
            </a:r>
            <a:r>
              <a:rPr sz="3200" spc="-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Balance</a:t>
            </a:r>
            <a:r>
              <a:rPr sz="3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sequence</a:t>
            </a:r>
            <a:r>
              <a:rPr sz="320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lengths</a:t>
            </a:r>
            <a:r>
              <a:rPr sz="3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across</a:t>
            </a:r>
            <a:r>
              <a:rPr sz="3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splits</a:t>
            </a:r>
            <a:r>
              <a:rPr sz="3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</a:t>
            </a:r>
            <a:r>
              <a:rPr sz="320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validation</a:t>
            </a:r>
            <a:r>
              <a:rPr sz="3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accurately </a:t>
            </a:r>
            <a:r>
              <a:rPr sz="3200" spc="-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represents</a:t>
            </a:r>
            <a:r>
              <a:rPr sz="3200" spc="-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true</a:t>
            </a:r>
            <a:r>
              <a:rPr sz="320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test</a:t>
            </a:r>
            <a:r>
              <a:rPr sz="3200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distributions.</a:t>
            </a:r>
            <a:endParaRPr sz="320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381000" y="2628900"/>
            <a:ext cx="990600" cy="31242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63" y="627380"/>
            <a:ext cx="6499225" cy="344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2150" b="1" spc="25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—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sz="2150" b="1" spc="-17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150" b="1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</a:t>
            </a:r>
            <a:endParaRPr sz="2150" b="1" spc="-5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83945" y="1287145"/>
            <a:ext cx="15848965" cy="1151255"/>
          </a:xfrm>
          <a:prstGeom prst="rect">
            <a:avLst/>
          </a:prstGeom>
        </p:spPr>
        <p:txBody>
          <a:bodyPr vert="horz" wrap="square" lIns="0" tIns="3175" rIns="0" bIns="0" rtlCol="0">
            <a:noAutofit/>
          </a:bodyPr>
          <a:lstStyle/>
          <a:p>
            <a:pPr marL="12700" marR="5080">
              <a:lnSpc>
                <a:spcPts val="6750"/>
              </a:lnSpc>
              <a:spcBef>
                <a:spcPts val="25"/>
              </a:spcBef>
            </a:pPr>
            <a:r>
              <a:rPr spc="1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pc="-3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3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Merging</a:t>
            </a:r>
            <a:r>
              <a:rPr spc="-3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Pipeline:</a:t>
            </a:r>
            <a:r>
              <a:rPr spc="-3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3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Aggregating</a:t>
            </a:r>
            <a:r>
              <a:rPr spc="-3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6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spc="-3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2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Parallel </a:t>
            </a:r>
            <a:r>
              <a:rPr spc="2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Corpora</a:t>
            </a:r>
            <a:endParaRPr spc="26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3158" y="3390615"/>
            <a:ext cx="15470505" cy="14236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850" b="1" spc="2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</a:t>
            </a:r>
            <a:r>
              <a:rPr sz="2850" b="1" spc="-1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50" b="1" spc="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Sources</a:t>
            </a:r>
            <a:r>
              <a:rPr sz="285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50" b="1" spc="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Joined</a:t>
            </a:r>
            <a:endParaRPr sz="285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ts val="3600"/>
              </a:lnSpc>
            </a:pPr>
            <a:r>
              <a:rPr sz="2350" spc="-1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General</a:t>
            </a:r>
            <a:r>
              <a:rPr sz="2350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Corpus:</a:t>
            </a:r>
            <a:r>
              <a:rPr sz="235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AmharicDataset</a:t>
            </a:r>
            <a:r>
              <a:rPr sz="2350" spc="-1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(5K</a:t>
            </a:r>
            <a:r>
              <a:rPr sz="2350" spc="-2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pairs)</a:t>
            </a:r>
            <a:r>
              <a:rPr sz="235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2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·</a:t>
            </a:r>
            <a:r>
              <a:rPr sz="235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2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Web</a:t>
            </a:r>
            <a:r>
              <a:rPr sz="235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Crawls:</a:t>
            </a:r>
            <a:r>
              <a:rPr sz="235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25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OPUS-</a:t>
            </a:r>
            <a:r>
              <a:rPr sz="2350" spc="-1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100</a:t>
            </a:r>
            <a:r>
              <a:rPr sz="235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(200K</a:t>
            </a:r>
            <a:r>
              <a:rPr sz="2350" spc="-2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pairs)</a:t>
            </a:r>
            <a:r>
              <a:rPr sz="235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2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·</a:t>
            </a:r>
            <a:r>
              <a:rPr sz="235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Benchmarks:</a:t>
            </a:r>
            <a:r>
              <a:rPr sz="235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2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FLORES-</a:t>
            </a:r>
            <a:r>
              <a:rPr sz="2350" spc="-1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200</a:t>
            </a:r>
            <a:r>
              <a:rPr sz="235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(1K</a:t>
            </a:r>
            <a:r>
              <a:rPr sz="2350" spc="-2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pairs)</a:t>
            </a:r>
            <a:r>
              <a:rPr sz="235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2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·</a:t>
            </a:r>
            <a:r>
              <a:rPr sz="235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Religious </a:t>
            </a:r>
            <a:r>
              <a:rPr sz="2350" spc="-1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Texts:</a:t>
            </a:r>
            <a:r>
              <a:rPr sz="235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Bible</a:t>
            </a:r>
            <a:r>
              <a:rPr sz="2350" spc="-1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parallel</a:t>
            </a:r>
            <a:r>
              <a:rPr sz="235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corpus</a:t>
            </a:r>
            <a:r>
              <a:rPr sz="235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(30K</a:t>
            </a:r>
            <a:r>
              <a:rPr sz="2350" spc="-2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pairs)</a:t>
            </a:r>
            <a:endParaRPr sz="235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3158" y="5122259"/>
            <a:ext cx="15389860" cy="966469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850" b="1" spc="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Harmonizing</a:t>
            </a:r>
            <a:r>
              <a:rPr sz="2850" b="1" spc="-1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50" b="1" spc="1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850" b="1" spc="-1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50" b="1" spc="1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Schema</a:t>
            </a:r>
            <a:endParaRPr sz="285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35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Converting</a:t>
            </a:r>
            <a:r>
              <a:rPr sz="2350" spc="-2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mismatched</a:t>
            </a:r>
            <a:r>
              <a:rPr sz="235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2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Excel</a:t>
            </a:r>
            <a:r>
              <a:rPr sz="235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spreadsheets</a:t>
            </a:r>
            <a:r>
              <a:rPr sz="2350" spc="-1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35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3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CSV</a:t>
            </a:r>
            <a:r>
              <a:rPr sz="2350" spc="-2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sources</a:t>
            </a:r>
            <a:r>
              <a:rPr sz="2350" spc="-1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into</a:t>
            </a:r>
            <a:r>
              <a:rPr sz="235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229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350" spc="-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unified</a:t>
            </a:r>
            <a:r>
              <a:rPr sz="235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two-</a:t>
            </a:r>
            <a:r>
              <a:rPr sz="2350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column</a:t>
            </a:r>
            <a:r>
              <a:rPr sz="235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layout:</a:t>
            </a:r>
            <a:r>
              <a:rPr sz="235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‘amharic’</a:t>
            </a:r>
            <a:r>
              <a:rPr sz="235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35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‘english’</a:t>
            </a:r>
            <a:r>
              <a:rPr sz="235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columns.</a:t>
            </a:r>
            <a:endParaRPr sz="2350" spc="-6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3158" y="6431629"/>
            <a:ext cx="13771880" cy="966469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850" b="1" spc="2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Pre-</a:t>
            </a:r>
            <a:r>
              <a:rPr sz="2850" b="1" spc="1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cleaning</a:t>
            </a:r>
            <a:r>
              <a:rPr sz="2850" b="1" spc="-1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50" b="1"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Filters</a:t>
            </a:r>
            <a:endParaRPr sz="285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350" spc="-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Automated</a:t>
            </a:r>
            <a:r>
              <a:rPr sz="235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drop</a:t>
            </a:r>
            <a:r>
              <a:rPr sz="235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350" spc="-2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null</a:t>
            </a:r>
            <a:r>
              <a:rPr sz="235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cells</a:t>
            </a:r>
            <a:r>
              <a:rPr sz="235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35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completely</a:t>
            </a:r>
            <a:r>
              <a:rPr sz="2350" spc="-2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empty</a:t>
            </a:r>
            <a:r>
              <a:rPr sz="2350" spc="-20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spacing</a:t>
            </a:r>
            <a:r>
              <a:rPr sz="2350" spc="-20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strings</a:t>
            </a:r>
            <a:r>
              <a:rPr sz="2350" spc="-1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35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establish</a:t>
            </a:r>
            <a:r>
              <a:rPr sz="235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229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35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normalized</a:t>
            </a:r>
            <a:r>
              <a:rPr sz="235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primary</a:t>
            </a:r>
            <a:r>
              <a:rPr sz="2350" spc="-20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raw</a:t>
            </a:r>
            <a:r>
              <a:rPr sz="2350" spc="-2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dataset.</a:t>
            </a:r>
            <a:endParaRPr sz="2350" spc="-8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63" y="627380"/>
            <a:ext cx="64992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2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G</a:t>
            </a:r>
            <a:endParaRPr sz="2150" b="1" spc="-5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10" dirty="0">
                <a:solidFill>
                  <a:schemeClr val="tx1"/>
                </a:solidFill>
              </a:rPr>
              <a:t>Pass</a:t>
            </a:r>
            <a:r>
              <a:rPr spc="-340" dirty="0">
                <a:solidFill>
                  <a:schemeClr val="tx1"/>
                </a:solidFill>
              </a:rPr>
              <a:t> </a:t>
            </a:r>
            <a:r>
              <a:rPr spc="-625" dirty="0">
                <a:solidFill>
                  <a:schemeClr val="tx1"/>
                </a:solidFill>
              </a:rPr>
              <a:t>1:</a:t>
            </a:r>
            <a:r>
              <a:rPr spc="-335" dirty="0">
                <a:solidFill>
                  <a:schemeClr val="tx1"/>
                </a:solidFill>
              </a:rPr>
              <a:t> </a:t>
            </a:r>
            <a:r>
              <a:rPr spc="245" dirty="0">
                <a:solidFill>
                  <a:schemeClr val="tx1"/>
                </a:solidFill>
              </a:rPr>
              <a:t>Eliminating</a:t>
            </a:r>
            <a:r>
              <a:rPr spc="-335" dirty="0">
                <a:solidFill>
                  <a:schemeClr val="tx1"/>
                </a:solidFill>
              </a:rPr>
              <a:t> </a:t>
            </a:r>
            <a:r>
              <a:rPr spc="260" dirty="0">
                <a:solidFill>
                  <a:schemeClr val="tx1"/>
                </a:solidFill>
              </a:rPr>
              <a:t>Structural</a:t>
            </a:r>
            <a:r>
              <a:rPr spc="-335" dirty="0">
                <a:solidFill>
                  <a:schemeClr val="tx1"/>
                </a:solidFill>
              </a:rPr>
              <a:t> </a:t>
            </a:r>
            <a:r>
              <a:rPr spc="430" dirty="0">
                <a:solidFill>
                  <a:schemeClr val="tx1"/>
                </a:solidFill>
              </a:rPr>
              <a:t>&amp;</a:t>
            </a:r>
            <a:r>
              <a:rPr spc="-335" dirty="0">
                <a:solidFill>
                  <a:schemeClr val="tx1"/>
                </a:solidFill>
              </a:rPr>
              <a:t> </a:t>
            </a:r>
            <a:r>
              <a:rPr spc="210" dirty="0">
                <a:solidFill>
                  <a:schemeClr val="tx1"/>
                </a:solidFill>
              </a:rPr>
              <a:t>Subtitle</a:t>
            </a:r>
            <a:r>
              <a:rPr spc="-335" dirty="0">
                <a:solidFill>
                  <a:schemeClr val="tx1"/>
                </a:solidFill>
              </a:rPr>
              <a:t> </a:t>
            </a:r>
            <a:r>
              <a:rPr spc="130" dirty="0">
                <a:solidFill>
                  <a:schemeClr val="tx1"/>
                </a:solidFill>
              </a:rPr>
              <a:t>Noise</a:t>
            </a:r>
            <a:endParaRPr spc="130" dirty="0">
              <a:solidFill>
                <a:schemeClr val="tx1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42268" y="2455102"/>
            <a:ext cx="14163040" cy="5718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600" b="1" spc="114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Speaker</a:t>
            </a:r>
            <a:r>
              <a:rPr sz="2600" b="1" spc="-15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5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Label</a:t>
            </a:r>
            <a:r>
              <a:rPr sz="2600" b="1" spc="-15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4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Strip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Regular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expressions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(regex)</a:t>
            </a:r>
            <a:r>
              <a:rPr sz="2350" spc="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strip</a:t>
            </a:r>
            <a:r>
              <a:rPr sz="23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conversational</a:t>
            </a:r>
            <a:r>
              <a:rPr sz="23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speaker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tags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(e.g.,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CARTER:,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80" dirty="0">
                <a:solidFill>
                  <a:schemeClr val="tx1"/>
                </a:solidFill>
                <a:latin typeface="Ebrima" panose="02000000000000000000"/>
                <a:cs typeface="Ebrima" panose="02000000000000000000"/>
              </a:rPr>
              <a:t>ሰው</a:t>
            </a:r>
            <a:r>
              <a:rPr sz="2350" spc="-1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:)</a:t>
            </a:r>
            <a:r>
              <a:rPr sz="2350" spc="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3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subtitle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dialogues.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600" b="1" spc="-1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sz="2600" b="1" spc="-1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Ellipsis</a:t>
            </a:r>
            <a:r>
              <a:rPr sz="2600" b="1" spc="-1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9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Paring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Cleaning</a:t>
            </a:r>
            <a:r>
              <a:rPr sz="2350" spc="-2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leading/trailing</a:t>
            </a:r>
            <a:r>
              <a:rPr sz="2350" spc="-1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ellipsis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artifacts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(…,</a:t>
            </a:r>
            <a:r>
              <a:rPr sz="235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...)</a:t>
            </a:r>
            <a:r>
              <a:rPr sz="2350" spc="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typical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50" spc="-2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streaming</a:t>
            </a:r>
            <a:r>
              <a:rPr sz="2350" spc="-1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transcription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subtitle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data.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2600" b="1" spc="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Length</a:t>
            </a:r>
            <a:r>
              <a:rPr sz="2600" b="1" spc="-17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Ratio</a:t>
            </a:r>
            <a:r>
              <a:rPr sz="2600" b="1" spc="-17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Filter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Dropping</a:t>
            </a:r>
            <a:r>
              <a:rPr sz="23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rows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where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word-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count</a:t>
            </a:r>
            <a:r>
              <a:rPr sz="2350" spc="-1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ratio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between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source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target</a:t>
            </a:r>
            <a:r>
              <a:rPr sz="2350" spc="-1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highly</a:t>
            </a:r>
            <a:r>
              <a:rPr sz="23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skewed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(ratio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&lt;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0.5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&gt;</a:t>
            </a:r>
            <a:r>
              <a:rPr sz="235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2.0).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r>
              <a:rPr sz="2600" b="1" spc="10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Initial</a:t>
            </a:r>
            <a:r>
              <a:rPr sz="2600" b="1" spc="-14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10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Deduplication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Drop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duplicate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phrases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both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source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target</a:t>
            </a:r>
            <a:r>
              <a:rPr sz="2350" spc="-1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sides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prevent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network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3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memorizing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repeated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dialogues.</a:t>
            </a:r>
            <a:endParaRPr sz="2350" spc="-95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1066800" y="27051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3" name="Right Arrow 22"/>
          <p:cNvSpPr/>
          <p:nvPr/>
        </p:nvSpPr>
        <p:spPr>
          <a:xfrm>
            <a:off x="990600" y="58293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4" name="Right Arrow 23"/>
          <p:cNvSpPr/>
          <p:nvPr/>
        </p:nvSpPr>
        <p:spPr>
          <a:xfrm>
            <a:off x="990600" y="74295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5" name="Right Arrow 24"/>
          <p:cNvSpPr/>
          <p:nvPr/>
        </p:nvSpPr>
        <p:spPr>
          <a:xfrm>
            <a:off x="990600" y="43053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63" y="627380"/>
            <a:ext cx="64992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2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G</a:t>
            </a:r>
            <a:endParaRPr sz="2150" b="1" spc="-5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50950" y="1039495"/>
            <a:ext cx="13158470" cy="1398905"/>
          </a:xfrm>
          <a:prstGeom prst="rect">
            <a:avLst/>
          </a:prstGeom>
        </p:spPr>
        <p:txBody>
          <a:bodyPr vert="horz" wrap="square" lIns="0" tIns="3175" rIns="0" bIns="0" rtlCol="0">
            <a:noAutofit/>
          </a:bodyPr>
          <a:lstStyle/>
          <a:p>
            <a:pPr marL="12700" marR="5080">
              <a:lnSpc>
                <a:spcPts val="6750"/>
              </a:lnSpc>
              <a:spcBef>
                <a:spcPts val="25"/>
              </a:spcBef>
            </a:pPr>
            <a:r>
              <a:rPr spc="110" dirty="0">
                <a:solidFill>
                  <a:schemeClr val="tx1"/>
                </a:solidFill>
              </a:rPr>
              <a:t>Pass</a:t>
            </a:r>
            <a:r>
              <a:rPr spc="-350" dirty="0">
                <a:solidFill>
                  <a:schemeClr val="tx1"/>
                </a:solidFill>
              </a:rPr>
              <a:t> </a:t>
            </a:r>
            <a:r>
              <a:rPr spc="-100" dirty="0">
                <a:solidFill>
                  <a:schemeClr val="tx1"/>
                </a:solidFill>
              </a:rPr>
              <a:t>2:</a:t>
            </a:r>
            <a:r>
              <a:rPr spc="-350" dirty="0">
                <a:solidFill>
                  <a:schemeClr val="tx1"/>
                </a:solidFill>
              </a:rPr>
              <a:t> </a:t>
            </a:r>
            <a:r>
              <a:rPr spc="295" dirty="0">
                <a:solidFill>
                  <a:schemeClr val="tx1"/>
                </a:solidFill>
              </a:rPr>
              <a:t>Language</a:t>
            </a:r>
            <a:r>
              <a:rPr spc="-345" dirty="0">
                <a:solidFill>
                  <a:schemeClr val="tx1"/>
                </a:solidFill>
              </a:rPr>
              <a:t> </a:t>
            </a:r>
            <a:r>
              <a:rPr spc="210" dirty="0">
                <a:solidFill>
                  <a:schemeClr val="tx1"/>
                </a:solidFill>
              </a:rPr>
              <a:t>Purification</a:t>
            </a:r>
            <a:r>
              <a:rPr spc="-350" dirty="0">
                <a:solidFill>
                  <a:schemeClr val="tx1"/>
                </a:solidFill>
              </a:rPr>
              <a:t> </a:t>
            </a:r>
            <a:r>
              <a:rPr spc="430" dirty="0">
                <a:solidFill>
                  <a:schemeClr val="tx1"/>
                </a:solidFill>
              </a:rPr>
              <a:t>&amp;</a:t>
            </a:r>
            <a:r>
              <a:rPr spc="-350" dirty="0">
                <a:solidFill>
                  <a:schemeClr val="tx1"/>
                </a:solidFill>
              </a:rPr>
              <a:t> </a:t>
            </a:r>
            <a:r>
              <a:rPr spc="130" dirty="0">
                <a:solidFill>
                  <a:schemeClr val="tx1"/>
                </a:solidFill>
              </a:rPr>
              <a:t>Noise </a:t>
            </a:r>
            <a:r>
              <a:rPr spc="200" dirty="0">
                <a:solidFill>
                  <a:schemeClr val="tx1"/>
                </a:solidFill>
              </a:rPr>
              <a:t>Stripping</a:t>
            </a:r>
            <a:endParaRPr spc="200" dirty="0">
              <a:solidFill>
                <a:schemeClr val="tx1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09800" y="3313430"/>
            <a:ext cx="14319250" cy="5655945"/>
          </a:xfrm>
          <a:prstGeom prst="rect">
            <a:avLst/>
          </a:prstGeom>
        </p:spPr>
        <p:txBody>
          <a:bodyPr vert="horz" wrap="square" lIns="0" tIns="10985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600" b="1" spc="5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Geʼez</a:t>
            </a:r>
            <a:r>
              <a:rPr sz="2600" b="1" spc="-16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8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Unicode</a:t>
            </a:r>
            <a:r>
              <a:rPr sz="2600" b="1" spc="-16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1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Verification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Checking</a:t>
            </a:r>
            <a:r>
              <a:rPr sz="23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350" spc="-1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Amharic</a:t>
            </a:r>
            <a:r>
              <a:rPr sz="2350" spc="-1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column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contains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valid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characters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within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the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Ge</a:t>
            </a:r>
            <a:r>
              <a:rPr sz="22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ʼ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ez</a:t>
            </a:r>
            <a:r>
              <a:rPr sz="2350" spc="-1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script</a:t>
            </a:r>
            <a:r>
              <a:rPr sz="2350" spc="-1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block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(U+1200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U+137F).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2600" b="1" spc="114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Leakage</a:t>
            </a:r>
            <a:r>
              <a:rPr sz="2600" b="1" spc="-14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Filtration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Dropping</a:t>
            </a:r>
            <a:r>
              <a:rPr sz="2350" spc="-2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rows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where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Amharic</a:t>
            </a:r>
            <a:r>
              <a:rPr sz="2350" spc="-1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column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35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corrupted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more</a:t>
            </a:r>
            <a:r>
              <a:rPr sz="235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30%</a:t>
            </a:r>
            <a:r>
              <a:rPr sz="2350" spc="-2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English/Latin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text</a:t>
            </a:r>
            <a:r>
              <a:rPr sz="2350" spc="-1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(language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leakage).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2600" b="1" spc="8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Underscore</a:t>
            </a:r>
            <a:r>
              <a:rPr sz="2600" b="1" spc="-16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18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600" b="1" spc="-16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Noise</a:t>
            </a:r>
            <a:r>
              <a:rPr sz="2600" b="1" spc="-1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12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Clean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Removing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stray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characters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like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mid-</a:t>
            </a:r>
            <a:r>
              <a:rPr sz="23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word</a:t>
            </a:r>
            <a:r>
              <a:rPr sz="235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underscores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(_)</a:t>
            </a:r>
            <a:r>
              <a:rPr sz="2350" spc="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system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codes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corrupt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token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representations.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r>
              <a:rPr sz="2600" b="1" spc="12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Punctuation</a:t>
            </a:r>
            <a:r>
              <a:rPr sz="2600" b="1" spc="-13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12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Standardization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Cleaning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standalone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hyphens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350" spc="-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350" spc="-1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dialogue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turn-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taking</a:t>
            </a:r>
            <a:r>
              <a:rPr sz="2350" spc="-1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indicators,</a:t>
            </a:r>
            <a:r>
              <a:rPr sz="235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ensuring</a:t>
            </a:r>
            <a:r>
              <a:rPr sz="2350" spc="-2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only</a:t>
            </a:r>
            <a:r>
              <a:rPr sz="2350" spc="-2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clean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letters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remain.</a:t>
            </a:r>
            <a:endParaRPr sz="2350" spc="-1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1371600" y="3467100"/>
            <a:ext cx="685800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3" name="Right Arrow 22"/>
          <p:cNvSpPr/>
          <p:nvPr/>
        </p:nvSpPr>
        <p:spPr>
          <a:xfrm>
            <a:off x="1371600" y="5067300"/>
            <a:ext cx="685800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4" name="Right Arrow 23"/>
          <p:cNvSpPr/>
          <p:nvPr/>
        </p:nvSpPr>
        <p:spPr>
          <a:xfrm>
            <a:off x="1371600" y="6591300"/>
            <a:ext cx="685800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5" name="Right Arrow 24"/>
          <p:cNvSpPr/>
          <p:nvPr/>
        </p:nvSpPr>
        <p:spPr>
          <a:xfrm>
            <a:off x="1371600" y="8191500"/>
            <a:ext cx="685800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63" y="627380"/>
            <a:ext cx="64992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2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G</a:t>
            </a:r>
            <a:endParaRPr sz="2150" b="1" spc="-5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70" dirty="0">
                <a:solidFill>
                  <a:schemeClr val="tx1"/>
                </a:solidFill>
              </a:rPr>
              <a:t>Normalizing</a:t>
            </a:r>
            <a:r>
              <a:rPr spc="-325" dirty="0">
                <a:solidFill>
                  <a:schemeClr val="tx1"/>
                </a:solidFill>
              </a:rPr>
              <a:t> </a:t>
            </a:r>
            <a:r>
              <a:rPr spc="285" dirty="0">
                <a:solidFill>
                  <a:schemeClr val="tx1"/>
                </a:solidFill>
              </a:rPr>
              <a:t>Orthographic</a:t>
            </a:r>
            <a:r>
              <a:rPr spc="-325" dirty="0">
                <a:solidFill>
                  <a:schemeClr val="tx1"/>
                </a:solidFill>
              </a:rPr>
              <a:t> </a:t>
            </a:r>
            <a:r>
              <a:rPr spc="240" dirty="0">
                <a:solidFill>
                  <a:schemeClr val="tx1"/>
                </a:solidFill>
              </a:rPr>
              <a:t>Conventions</a:t>
            </a:r>
            <a:endParaRPr spc="24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2268" y="2516855"/>
            <a:ext cx="15078075" cy="14236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850" b="1" spc="19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Amharic</a:t>
            </a:r>
            <a:r>
              <a:rPr sz="2850" b="1" spc="-17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5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Normalization</a:t>
            </a:r>
            <a:endParaRPr sz="285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ts val="3600"/>
              </a:lnSpc>
            </a:pP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Collapsing</a:t>
            </a:r>
            <a:r>
              <a:rPr sz="2350" spc="-2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double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Ethiopic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colons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(::)</a:t>
            </a:r>
            <a:r>
              <a:rPr sz="2350" spc="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into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29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standardized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Ethiopic</a:t>
            </a:r>
            <a:r>
              <a:rPr sz="2350" spc="-1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full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stop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</a:t>
            </a:r>
            <a:r>
              <a:rPr sz="2200" spc="-80" dirty="0">
                <a:solidFill>
                  <a:schemeClr val="tx1"/>
                </a:solidFill>
                <a:latin typeface="Ebrima" panose="02000000000000000000"/>
                <a:cs typeface="Ebrima" panose="02000000000000000000"/>
              </a:rPr>
              <a:t>።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).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Replacing</a:t>
            </a:r>
            <a:r>
              <a:rPr sz="2350" spc="-2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single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colons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(:)</a:t>
            </a:r>
            <a:r>
              <a:rPr sz="2350" spc="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traditional </a:t>
            </a:r>
            <a:r>
              <a:rPr sz="23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word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space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marker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</a:t>
            </a:r>
            <a:r>
              <a:rPr sz="2200" spc="-20" dirty="0">
                <a:solidFill>
                  <a:schemeClr val="tx1"/>
                </a:solidFill>
                <a:latin typeface="Ebrima" panose="02000000000000000000"/>
                <a:cs typeface="Ebrima" panose="02000000000000000000"/>
              </a:rPr>
              <a:t>፡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).</a:t>
            </a:r>
            <a:endParaRPr sz="2350" spc="-2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42268" y="4533614"/>
            <a:ext cx="15502255" cy="14236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850" b="1" spc="4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English</a:t>
            </a:r>
            <a:r>
              <a:rPr sz="2850" b="1" spc="-1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5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Normalization</a:t>
            </a:r>
            <a:endParaRPr sz="285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Converting</a:t>
            </a:r>
            <a:r>
              <a:rPr sz="2350" spc="-1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English</a:t>
            </a:r>
            <a:r>
              <a:rPr sz="2350" spc="-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text</a:t>
            </a:r>
            <a:r>
              <a:rPr sz="2350" spc="-1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lowercase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limit</a:t>
            </a:r>
            <a:r>
              <a:rPr sz="2350" spc="-1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vocabulary</a:t>
            </a:r>
            <a:r>
              <a:rPr sz="2350" spc="-1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size.</a:t>
            </a:r>
            <a:r>
              <a:rPr sz="2350" spc="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Stripping</a:t>
            </a:r>
            <a:r>
              <a:rPr sz="2350" spc="-1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non-</a:t>
            </a:r>
            <a:r>
              <a:rPr sz="2350" spc="-2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ASCII</a:t>
            </a:r>
            <a:r>
              <a:rPr sz="2350" spc="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formatting</a:t>
            </a:r>
            <a:r>
              <a:rPr sz="2350" spc="-1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while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retaining</a:t>
            </a:r>
            <a:r>
              <a:rPr sz="2350" spc="-1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letters,</a:t>
            </a:r>
            <a:r>
              <a:rPr sz="2350" spc="-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numbers,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spaces,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apostrophes,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common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punctuation.</a:t>
            </a:r>
            <a:endParaRPr sz="2350" spc="-1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42268" y="6667214"/>
            <a:ext cx="14086205" cy="966469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850" b="1" spc="18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Whitespace</a:t>
            </a:r>
            <a:r>
              <a:rPr sz="2850" b="1" spc="-16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25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Management</a:t>
            </a:r>
            <a:endParaRPr sz="285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Collapsing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extra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consecutive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spaces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trimming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sentence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margins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ensure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consistent</a:t>
            </a:r>
            <a:r>
              <a:rPr sz="2350" spc="-1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token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boundary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detection.</a:t>
            </a:r>
            <a:endParaRPr sz="2350" spc="-5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1066800" y="2705100"/>
            <a:ext cx="533400" cy="2286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1" name="Right Arrow 20"/>
          <p:cNvSpPr/>
          <p:nvPr/>
        </p:nvSpPr>
        <p:spPr>
          <a:xfrm>
            <a:off x="1066800" y="4762500"/>
            <a:ext cx="533400" cy="2286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2" name="Right Arrow 21"/>
          <p:cNvSpPr/>
          <p:nvPr/>
        </p:nvSpPr>
        <p:spPr>
          <a:xfrm>
            <a:off x="1066800" y="6819900"/>
            <a:ext cx="533400" cy="2286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63" y="627380"/>
            <a:ext cx="64992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2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G</a:t>
            </a:r>
            <a:endParaRPr sz="2150" b="1" spc="-5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67018" y="1104963"/>
            <a:ext cx="13664565" cy="171831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ts val="6750"/>
              </a:lnSpc>
              <a:spcBef>
                <a:spcPts val="25"/>
              </a:spcBef>
            </a:pPr>
            <a:r>
              <a:rPr spc="254" dirty="0">
                <a:solidFill>
                  <a:schemeClr val="tx1"/>
                </a:solidFill>
              </a:rPr>
              <a:t>Sequence</a:t>
            </a:r>
            <a:r>
              <a:rPr spc="-350" dirty="0">
                <a:solidFill>
                  <a:schemeClr val="tx1"/>
                </a:solidFill>
              </a:rPr>
              <a:t> </a:t>
            </a:r>
            <a:r>
              <a:rPr spc="175" dirty="0">
                <a:solidFill>
                  <a:schemeClr val="tx1"/>
                </a:solidFill>
              </a:rPr>
              <a:t>Length</a:t>
            </a:r>
            <a:r>
              <a:rPr spc="-350" dirty="0">
                <a:solidFill>
                  <a:schemeClr val="tx1"/>
                </a:solidFill>
              </a:rPr>
              <a:t> </a:t>
            </a:r>
            <a:r>
              <a:rPr spc="195" dirty="0">
                <a:solidFill>
                  <a:schemeClr val="tx1"/>
                </a:solidFill>
              </a:rPr>
              <a:t>Controls</a:t>
            </a:r>
            <a:r>
              <a:rPr spc="-345" dirty="0">
                <a:solidFill>
                  <a:schemeClr val="tx1"/>
                </a:solidFill>
              </a:rPr>
              <a:t> </a:t>
            </a:r>
            <a:r>
              <a:rPr spc="160" dirty="0">
                <a:solidFill>
                  <a:schemeClr val="tx1"/>
                </a:solidFill>
              </a:rPr>
              <a:t>for</a:t>
            </a:r>
            <a:r>
              <a:rPr spc="-350" dirty="0">
                <a:solidFill>
                  <a:schemeClr val="tx1"/>
                </a:solidFill>
              </a:rPr>
              <a:t> </a:t>
            </a:r>
            <a:r>
              <a:rPr spc="240" dirty="0">
                <a:solidFill>
                  <a:schemeClr val="tx1"/>
                </a:solidFill>
              </a:rPr>
              <a:t>Training </a:t>
            </a:r>
            <a:r>
              <a:rPr spc="229" dirty="0">
                <a:solidFill>
                  <a:schemeClr val="tx1"/>
                </a:solidFill>
              </a:rPr>
              <a:t>Stability</a:t>
            </a:r>
            <a:endParaRPr spc="229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0358" y="3086228"/>
            <a:ext cx="15238094" cy="146558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850" b="1" spc="15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Transformer</a:t>
            </a:r>
            <a:r>
              <a:rPr sz="2850" b="1" spc="-1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22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Memory</a:t>
            </a:r>
            <a:r>
              <a:rPr sz="2850" b="1" spc="-17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8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Cost</a:t>
            </a:r>
            <a:endParaRPr sz="285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ts val="3600"/>
              </a:lnSpc>
              <a:spcBef>
                <a:spcPts val="10"/>
              </a:spcBef>
            </a:pPr>
            <a:r>
              <a:rPr sz="235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Core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memory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increases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quadratically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sentence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length: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O(L²).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350" spc="-2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sentence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50" spc="-2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200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words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uses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four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times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more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GPU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memory 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one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50" spc="-2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100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words.</a:t>
            </a:r>
            <a:endParaRPr sz="2350" spc="-1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0358" y="4894707"/>
            <a:ext cx="15065375" cy="146558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850" b="1" spc="114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Outlier</a:t>
            </a:r>
            <a:r>
              <a:rPr sz="2850" b="1" spc="-18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1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Culling</a:t>
            </a:r>
            <a:endParaRPr sz="285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Dropping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any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sentences 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exceeding</a:t>
            </a:r>
            <a:r>
              <a:rPr sz="2350" spc="-2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100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English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words.</a:t>
            </a:r>
            <a:r>
              <a:rPr sz="2350" spc="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Only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removes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29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tiny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fraction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50" spc="-2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extreme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outliers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but</a:t>
            </a:r>
            <a:r>
              <a:rPr sz="2350" spc="-1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provides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absolute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35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safety</a:t>
            </a:r>
            <a:r>
              <a:rPr sz="23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against</a:t>
            </a:r>
            <a:r>
              <a:rPr sz="2350" spc="-1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VRAM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spikes.</a:t>
            </a:r>
            <a:endParaRPr sz="2350" spc="-1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9403" y="7048627"/>
            <a:ext cx="15259050" cy="100838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850" b="1" spc="23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Max</a:t>
            </a:r>
            <a:r>
              <a:rPr sz="2850" b="1" spc="-18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3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Sequence</a:t>
            </a:r>
            <a:r>
              <a:rPr sz="2850" b="1" spc="-1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2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Cap</a:t>
            </a:r>
            <a:endParaRPr sz="285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Setting</a:t>
            </a:r>
            <a:r>
              <a:rPr sz="23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dynamic</a:t>
            </a:r>
            <a:r>
              <a:rPr sz="235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padding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tokenizer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configuration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max_length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=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128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tokens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stable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batched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23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across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epochs.</a:t>
            </a:r>
            <a:endParaRPr sz="2350" spc="-95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962025" y="3329305"/>
            <a:ext cx="552450" cy="2139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1" name="Right Arrow 20"/>
          <p:cNvSpPr/>
          <p:nvPr/>
        </p:nvSpPr>
        <p:spPr>
          <a:xfrm>
            <a:off x="958850" y="5143500"/>
            <a:ext cx="552450" cy="2139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2" name="Right Arrow 21"/>
          <p:cNvSpPr/>
          <p:nvPr/>
        </p:nvSpPr>
        <p:spPr>
          <a:xfrm>
            <a:off x="962025" y="7277100"/>
            <a:ext cx="552450" cy="2139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/>
          <p:cNvSpPr/>
          <p:nvPr/>
        </p:nvSpPr>
        <p:spPr>
          <a:xfrm>
            <a:off x="4267200" y="3086100"/>
            <a:ext cx="6781800" cy="6096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84163" y="627380"/>
            <a:ext cx="64992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2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G</a:t>
            </a:r>
            <a:endParaRPr sz="2150" b="1" spc="-5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19200" y="1122045"/>
            <a:ext cx="13647420" cy="1742440"/>
          </a:xfrm>
          <a:prstGeom prst="rect">
            <a:avLst/>
          </a:prstGeom>
        </p:spPr>
        <p:txBody>
          <a:bodyPr vert="horz" wrap="square" lIns="0" tIns="22860" rIns="0" bIns="0" rtlCol="0">
            <a:noAutofit/>
          </a:bodyPr>
          <a:lstStyle/>
          <a:p>
            <a:pPr marL="12700" marR="5080">
              <a:lnSpc>
                <a:spcPts val="6750"/>
              </a:lnSpc>
              <a:spcBef>
                <a:spcPts val="180"/>
              </a:spcBef>
            </a:pPr>
            <a:r>
              <a:rPr spc="345" dirty="0">
                <a:solidFill>
                  <a:schemeClr val="tx1"/>
                </a:solidFill>
              </a:rPr>
              <a:t>Length-</a:t>
            </a:r>
            <a:r>
              <a:rPr spc="200" dirty="0">
                <a:solidFill>
                  <a:schemeClr val="tx1"/>
                </a:solidFill>
              </a:rPr>
              <a:t>Based</a:t>
            </a:r>
            <a:r>
              <a:rPr spc="-345" dirty="0">
                <a:solidFill>
                  <a:schemeClr val="tx1"/>
                </a:solidFill>
              </a:rPr>
              <a:t> </a:t>
            </a:r>
            <a:r>
              <a:rPr spc="254" dirty="0">
                <a:solidFill>
                  <a:schemeClr val="tx1"/>
                </a:solidFill>
              </a:rPr>
              <a:t>Stratification</a:t>
            </a:r>
            <a:r>
              <a:rPr spc="-345" dirty="0">
                <a:solidFill>
                  <a:schemeClr val="tx1"/>
                </a:solidFill>
              </a:rPr>
              <a:t> </a:t>
            </a:r>
            <a:r>
              <a:rPr spc="430" dirty="0">
                <a:solidFill>
                  <a:schemeClr val="tx1"/>
                </a:solidFill>
              </a:rPr>
              <a:t>&amp;</a:t>
            </a:r>
            <a:r>
              <a:rPr spc="-345" dirty="0">
                <a:solidFill>
                  <a:schemeClr val="tx1"/>
                </a:solidFill>
              </a:rPr>
              <a:t> </a:t>
            </a:r>
            <a:r>
              <a:rPr spc="345" dirty="0">
                <a:solidFill>
                  <a:schemeClr val="tx1"/>
                </a:solidFill>
              </a:rPr>
              <a:t>Dataset </a:t>
            </a:r>
            <a:r>
              <a:rPr spc="190" dirty="0">
                <a:solidFill>
                  <a:schemeClr val="tx1"/>
                </a:solidFill>
              </a:rPr>
              <a:t>Splitting</a:t>
            </a:r>
            <a:endParaRPr spc="190" dirty="0">
              <a:solidFill>
                <a:schemeClr val="tx1"/>
              </a:solidFill>
            </a:endParaRPr>
          </a:p>
          <a:p>
            <a:pPr marL="401320">
              <a:lnSpc>
                <a:spcPct val="100000"/>
              </a:lnSpc>
              <a:spcBef>
                <a:spcPts val="700"/>
              </a:spcBef>
            </a:pPr>
            <a:endParaRPr sz="2450" spc="19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0358" y="4076771"/>
            <a:ext cx="13885544" cy="44361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600" b="1" spc="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b="1" spc="-16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13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Challenge</a:t>
            </a:r>
            <a:r>
              <a:rPr sz="2600" b="1" spc="-1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b="1" spc="-1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Length</a:t>
            </a:r>
            <a:r>
              <a:rPr sz="2600" b="1" spc="-1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16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Mismatch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Standard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random</a:t>
            </a:r>
            <a:r>
              <a:rPr sz="23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splitting</a:t>
            </a:r>
            <a:r>
              <a:rPr sz="2350" spc="-2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235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lead</a:t>
            </a:r>
            <a:r>
              <a:rPr sz="235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mismatched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average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sentence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lengths,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causing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skewed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loss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curves.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2070"/>
              </a:spcBef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600" b="1" spc="12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Quantile</a:t>
            </a:r>
            <a:r>
              <a:rPr sz="2600" b="1" spc="-16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9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Bucketing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3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Sorting</a:t>
            </a:r>
            <a:r>
              <a:rPr sz="2350" spc="-2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into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5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structural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length</a:t>
            </a:r>
            <a:r>
              <a:rPr sz="23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buckets</a:t>
            </a:r>
            <a:r>
              <a:rPr sz="23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based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word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counts: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very</a:t>
            </a:r>
            <a:r>
              <a:rPr sz="2350" spc="-2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short,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short,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medium,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long,</a:t>
            </a:r>
            <a:r>
              <a:rPr sz="23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very</a:t>
            </a:r>
            <a:r>
              <a:rPr sz="2350" spc="-2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long.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600" b="1" spc="10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Stratified</a:t>
            </a:r>
            <a:r>
              <a:rPr sz="2600" b="1" spc="-1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1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train_test_split</a:t>
            </a:r>
            <a:endParaRPr sz="26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Splitting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using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Scikit-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Learn’s 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stratified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sampler</a:t>
            </a:r>
            <a:r>
              <a:rPr sz="235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ensure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identical</a:t>
            </a:r>
            <a:r>
              <a:rPr sz="23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length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distributions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Train,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Val,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Test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sets.</a:t>
            </a:r>
            <a:endParaRPr sz="2350" spc="-2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42268" y="8981826"/>
            <a:ext cx="1130681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b="1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Result:</a:t>
            </a:r>
            <a:r>
              <a:rPr sz="2300" b="1" spc="-114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Train,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Validation,</a:t>
            </a:r>
            <a:r>
              <a:rPr sz="23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Test</a:t>
            </a:r>
            <a:r>
              <a:rPr sz="2350" spc="-1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sets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have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exact</a:t>
            </a:r>
            <a:r>
              <a:rPr sz="235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same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shape</a:t>
            </a:r>
            <a:r>
              <a:rPr sz="23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difficulty</a:t>
            </a:r>
            <a:r>
              <a:rPr sz="23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distribution.</a:t>
            </a:r>
            <a:endParaRPr sz="2350" spc="-1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4800600" y="3162300"/>
            <a:ext cx="10528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  <a:spcBef>
                <a:spcPts val="700"/>
              </a:spcBef>
            </a:pPr>
            <a:r>
              <a:rPr spc="55" dirty="0">
                <a:solidFill>
                  <a:srgbClr val="1D40AF"/>
                </a:solidFill>
                <a:sym typeface="+mn-ea"/>
              </a:rPr>
              <a:t>Split</a:t>
            </a:r>
            <a:r>
              <a:rPr spc="-140" dirty="0">
                <a:solidFill>
                  <a:srgbClr val="1D40AF"/>
                </a:solidFill>
                <a:sym typeface="+mn-ea"/>
              </a:rPr>
              <a:t> </a:t>
            </a:r>
            <a:r>
              <a:rPr spc="55" dirty="0">
                <a:solidFill>
                  <a:srgbClr val="1D40AF"/>
                </a:solidFill>
                <a:sym typeface="+mn-ea"/>
              </a:rPr>
              <a:t>Layout:</a:t>
            </a:r>
            <a:r>
              <a:rPr spc="-135" dirty="0">
                <a:solidFill>
                  <a:srgbClr val="1D40AF"/>
                </a:solidFill>
                <a:sym typeface="+mn-ea"/>
              </a:rPr>
              <a:t> </a:t>
            </a:r>
            <a:r>
              <a:rPr b="0" spc="-16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95%</a:t>
            </a:r>
            <a:r>
              <a:rPr b="0" spc="-254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b="0" spc="-9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Training</a:t>
            </a:r>
            <a:r>
              <a:rPr b="0" spc="-229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b="0" spc="-21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·</a:t>
            </a:r>
            <a:r>
              <a:rPr b="0" spc="-1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b="0" spc="-14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2.5%</a:t>
            </a:r>
            <a:r>
              <a:rPr b="0" spc="-254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b="0" spc="-9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Validation</a:t>
            </a:r>
            <a:r>
              <a:rPr b="0" spc="-5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b="0" spc="-21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·</a:t>
            </a:r>
            <a:r>
              <a:rPr b="0" spc="-1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b="0" spc="-145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2.5%</a:t>
            </a:r>
            <a:r>
              <a:rPr b="0" spc="-254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b="0" spc="-10" dirty="0">
                <a:solidFill>
                  <a:srgbClr val="3B81F5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Testing</a:t>
            </a:r>
            <a:endParaRPr lang="en-GB" altLang="en-US" b="0" spc="-1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  <a:sym typeface="+mn-ea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914400" y="4229100"/>
            <a:ext cx="609600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9" name="Right Arrow 28"/>
          <p:cNvSpPr/>
          <p:nvPr/>
        </p:nvSpPr>
        <p:spPr>
          <a:xfrm>
            <a:off x="990600" y="7780655"/>
            <a:ext cx="609600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0" name="Right Arrow 29"/>
          <p:cNvSpPr/>
          <p:nvPr/>
        </p:nvSpPr>
        <p:spPr>
          <a:xfrm>
            <a:off x="914400" y="6057900"/>
            <a:ext cx="609600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63" y="627380"/>
            <a:ext cx="64992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2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G</a:t>
            </a:r>
            <a:endParaRPr sz="2150" b="1" spc="-5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19418" y="1212913"/>
            <a:ext cx="12791440" cy="171831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ts val="6750"/>
              </a:lnSpc>
              <a:spcBef>
                <a:spcPts val="25"/>
              </a:spcBef>
            </a:pPr>
            <a:r>
              <a:rPr spc="225" dirty="0">
                <a:solidFill>
                  <a:schemeClr val="tx1"/>
                </a:solidFill>
              </a:rPr>
              <a:t>Subword</a:t>
            </a:r>
            <a:r>
              <a:rPr spc="-335" dirty="0">
                <a:solidFill>
                  <a:schemeClr val="tx1"/>
                </a:solidFill>
              </a:rPr>
              <a:t> </a:t>
            </a:r>
            <a:r>
              <a:rPr spc="225" dirty="0">
                <a:solidFill>
                  <a:schemeClr val="tx1"/>
                </a:solidFill>
              </a:rPr>
              <a:t>Tokenization</a:t>
            </a:r>
            <a:r>
              <a:rPr spc="-335" dirty="0">
                <a:solidFill>
                  <a:schemeClr val="tx1"/>
                </a:solidFill>
              </a:rPr>
              <a:t> </a:t>
            </a:r>
            <a:r>
              <a:rPr spc="375" dirty="0">
                <a:solidFill>
                  <a:schemeClr val="tx1"/>
                </a:solidFill>
              </a:rPr>
              <a:t>via</a:t>
            </a:r>
            <a:r>
              <a:rPr spc="-335" dirty="0">
                <a:solidFill>
                  <a:schemeClr val="tx1"/>
                </a:solidFill>
              </a:rPr>
              <a:t> </a:t>
            </a:r>
            <a:r>
              <a:rPr spc="425" dirty="0">
                <a:solidFill>
                  <a:schemeClr val="tx1"/>
                </a:solidFill>
              </a:rPr>
              <a:t>Byte-</a:t>
            </a:r>
            <a:r>
              <a:rPr spc="150" dirty="0">
                <a:solidFill>
                  <a:schemeClr val="tx1"/>
                </a:solidFill>
              </a:rPr>
              <a:t>Pair </a:t>
            </a:r>
            <a:r>
              <a:rPr spc="140" dirty="0">
                <a:solidFill>
                  <a:schemeClr val="tx1"/>
                </a:solidFill>
              </a:rPr>
              <a:t>Encoding</a:t>
            </a:r>
            <a:endParaRPr spc="140" dirty="0">
              <a:solidFill>
                <a:schemeClr val="tx1"/>
              </a:solidFill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xfrm>
            <a:off x="1219358" y="3238692"/>
            <a:ext cx="14475460" cy="5718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pc="114" dirty="0">
                <a:solidFill>
                  <a:schemeClr val="tx1"/>
                </a:solidFill>
              </a:rPr>
              <a:t>Shared</a:t>
            </a:r>
            <a:r>
              <a:rPr spc="-160" dirty="0">
                <a:solidFill>
                  <a:schemeClr val="tx1"/>
                </a:solidFill>
              </a:rPr>
              <a:t> </a:t>
            </a:r>
            <a:r>
              <a:rPr spc="-220" dirty="0">
                <a:solidFill>
                  <a:schemeClr val="tx1"/>
                </a:solidFill>
              </a:rPr>
              <a:t>BPE</a:t>
            </a:r>
            <a:r>
              <a:rPr spc="-160" dirty="0">
                <a:solidFill>
                  <a:schemeClr val="tx1"/>
                </a:solidFill>
              </a:rPr>
              <a:t> </a:t>
            </a:r>
            <a:r>
              <a:rPr spc="140" dirty="0">
                <a:solidFill>
                  <a:schemeClr val="tx1"/>
                </a:solidFill>
              </a:rPr>
              <a:t>Vocabulary</a:t>
            </a:r>
            <a:endParaRPr spc="140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b="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350" b="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learns</a:t>
            </a:r>
            <a:r>
              <a:rPr sz="2350" b="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token</a:t>
            </a:r>
            <a:r>
              <a:rPr sz="2350" b="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merges</a:t>
            </a:r>
            <a:r>
              <a:rPr sz="2350" b="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350" b="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both</a:t>
            </a:r>
            <a:r>
              <a:rPr sz="2350" b="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Amharic</a:t>
            </a:r>
            <a:r>
              <a:rPr sz="2350" b="0" spc="-1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b="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English</a:t>
            </a:r>
            <a:r>
              <a:rPr sz="2350" b="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text</a:t>
            </a:r>
            <a:r>
              <a:rPr sz="2350" b="0" spc="-1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simultaneously,</a:t>
            </a:r>
            <a:r>
              <a:rPr sz="2350" b="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enabling</a:t>
            </a:r>
            <a:r>
              <a:rPr sz="2350" b="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cross-</a:t>
            </a:r>
            <a:r>
              <a:rPr sz="2350" b="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lingual</a:t>
            </a:r>
            <a:r>
              <a:rPr sz="2350" b="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subword</a:t>
            </a:r>
            <a:r>
              <a:rPr sz="2350" b="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sharing.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pc="155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spc="155" dirty="0">
                <a:solidFill>
                  <a:schemeClr val="tx1"/>
                </a:solidFill>
              </a:rPr>
              <a:t>Vocab</a:t>
            </a:r>
            <a:r>
              <a:rPr spc="-155" dirty="0">
                <a:solidFill>
                  <a:schemeClr val="tx1"/>
                </a:solidFill>
              </a:rPr>
              <a:t> </a:t>
            </a:r>
            <a:r>
              <a:rPr spc="-30" dirty="0">
                <a:solidFill>
                  <a:schemeClr val="tx1"/>
                </a:solidFill>
              </a:rPr>
              <a:t>Size:</a:t>
            </a:r>
            <a:r>
              <a:rPr spc="-150" dirty="0">
                <a:solidFill>
                  <a:schemeClr val="tx1"/>
                </a:solidFill>
              </a:rPr>
              <a:t> </a:t>
            </a:r>
            <a:r>
              <a:rPr spc="135" dirty="0">
                <a:solidFill>
                  <a:schemeClr val="tx1"/>
                </a:solidFill>
              </a:rPr>
              <a:t>32,000</a:t>
            </a:r>
            <a:r>
              <a:rPr spc="-150" dirty="0">
                <a:solidFill>
                  <a:schemeClr val="tx1"/>
                </a:solidFill>
              </a:rPr>
              <a:t> </a:t>
            </a:r>
            <a:r>
              <a:rPr spc="60" dirty="0">
                <a:solidFill>
                  <a:schemeClr val="tx1"/>
                </a:solidFill>
              </a:rPr>
              <a:t>Tokens</a:t>
            </a:r>
            <a:endParaRPr spc="60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b="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350" b="0" spc="-2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32K</a:t>
            </a:r>
            <a:r>
              <a:rPr sz="2350" b="0" spc="-2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vocabulary</a:t>
            </a:r>
            <a:r>
              <a:rPr sz="2350" b="0" spc="-2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balances </a:t>
            </a:r>
            <a:r>
              <a:rPr sz="2350" b="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coverage</a:t>
            </a:r>
            <a:r>
              <a:rPr sz="2350" b="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50" b="0" spc="-2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both</a:t>
            </a:r>
            <a:r>
              <a:rPr sz="2350" b="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Amharic</a:t>
            </a:r>
            <a:r>
              <a:rPr sz="2350" b="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morphology</a:t>
            </a:r>
            <a:r>
              <a:rPr sz="2350" b="0" spc="-2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1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b="0" spc="-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English</a:t>
            </a:r>
            <a:r>
              <a:rPr sz="2350" b="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vocabulary</a:t>
            </a:r>
            <a:r>
              <a:rPr sz="2350" b="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without</a:t>
            </a:r>
            <a:r>
              <a:rPr sz="2350" b="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excessive</a:t>
            </a:r>
            <a:r>
              <a:rPr sz="2350" b="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sparsity.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pc="50" dirty="0">
                <a:solidFill>
                  <a:schemeClr val="tx1"/>
                </a:solidFill>
              </a:rPr>
              <a:t>Linguistic</a:t>
            </a:r>
            <a:r>
              <a:rPr spc="-150" dirty="0">
                <a:solidFill>
                  <a:schemeClr val="tx1"/>
                </a:solidFill>
              </a:rPr>
              <a:t> </a:t>
            </a:r>
            <a:r>
              <a:rPr spc="65" dirty="0">
                <a:solidFill>
                  <a:schemeClr val="tx1"/>
                </a:solidFill>
              </a:rPr>
              <a:t>Protection:</a:t>
            </a:r>
            <a:r>
              <a:rPr spc="-145" dirty="0">
                <a:solidFill>
                  <a:schemeClr val="tx1"/>
                </a:solidFill>
              </a:rPr>
              <a:t> </a:t>
            </a:r>
            <a:r>
              <a:rPr spc="175" dirty="0">
                <a:solidFill>
                  <a:schemeClr val="tx1"/>
                </a:solidFill>
              </a:rPr>
              <a:t>character_coverage</a:t>
            </a:r>
            <a:r>
              <a:rPr spc="-145" dirty="0">
                <a:solidFill>
                  <a:schemeClr val="tx1"/>
                </a:solidFill>
              </a:rPr>
              <a:t> </a:t>
            </a:r>
            <a:r>
              <a:rPr spc="285" dirty="0">
                <a:solidFill>
                  <a:schemeClr val="tx1"/>
                </a:solidFill>
              </a:rPr>
              <a:t>=</a:t>
            </a:r>
            <a:r>
              <a:rPr spc="-150" dirty="0">
                <a:solidFill>
                  <a:schemeClr val="tx1"/>
                </a:solidFill>
              </a:rPr>
              <a:t> </a:t>
            </a:r>
            <a:r>
              <a:rPr spc="135" dirty="0">
                <a:solidFill>
                  <a:schemeClr val="tx1"/>
                </a:solidFill>
              </a:rPr>
              <a:t>0.9995</a:t>
            </a:r>
            <a:endParaRPr spc="135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b="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Guarantees</a:t>
            </a:r>
            <a:r>
              <a:rPr sz="2350" b="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350" b="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Ge</a:t>
            </a:r>
            <a:r>
              <a:rPr sz="2250" b="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ʼ</a:t>
            </a:r>
            <a:r>
              <a:rPr sz="2350" b="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ez</a:t>
            </a:r>
            <a:r>
              <a:rPr sz="2350" b="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script</a:t>
            </a:r>
            <a:r>
              <a:rPr sz="2350" b="0" spc="-1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character</a:t>
            </a:r>
            <a:r>
              <a:rPr sz="2350" b="0" spc="-1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variants</a:t>
            </a:r>
            <a:r>
              <a:rPr sz="2350" b="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350" b="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covered,</a:t>
            </a:r>
            <a:r>
              <a:rPr sz="2350" b="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preventing</a:t>
            </a:r>
            <a:r>
              <a:rPr sz="2350" b="0" spc="-20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unknown</a:t>
            </a:r>
            <a:r>
              <a:rPr sz="2350" b="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token</a:t>
            </a:r>
            <a:r>
              <a:rPr sz="2350" b="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(&lt;unk&gt;)</a:t>
            </a:r>
            <a:r>
              <a:rPr sz="2350" b="0" spc="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errors</a:t>
            </a:r>
            <a:r>
              <a:rPr sz="2350" b="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during</a:t>
            </a:r>
            <a:r>
              <a:rPr sz="2350" b="0" spc="-2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translation.</a:t>
            </a:r>
            <a:endParaRPr sz="23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</a:pPr>
            <a:endParaRPr sz="230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r>
              <a:rPr spc="90" dirty="0">
                <a:solidFill>
                  <a:schemeClr val="tx1"/>
                </a:solidFill>
              </a:rPr>
              <a:t>Special</a:t>
            </a:r>
            <a:r>
              <a:rPr spc="-165" dirty="0">
                <a:solidFill>
                  <a:schemeClr val="tx1"/>
                </a:solidFill>
              </a:rPr>
              <a:t> </a:t>
            </a:r>
            <a:r>
              <a:rPr spc="60" dirty="0">
                <a:solidFill>
                  <a:schemeClr val="tx1"/>
                </a:solidFill>
              </a:rPr>
              <a:t>Tokens</a:t>
            </a:r>
            <a:endParaRPr spc="60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b="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Four</a:t>
            </a:r>
            <a:r>
              <a:rPr sz="2350" b="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reserved</a:t>
            </a:r>
            <a:r>
              <a:rPr sz="2350" b="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tokens</a:t>
            </a:r>
            <a:r>
              <a:rPr sz="2350" b="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define</a:t>
            </a:r>
            <a:r>
              <a:rPr sz="2350" b="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b="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sequence</a:t>
            </a:r>
            <a:r>
              <a:rPr sz="2350" b="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contract:</a:t>
            </a:r>
            <a:r>
              <a:rPr sz="2350" b="0" spc="-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&lt;pad&gt;=0</a:t>
            </a:r>
            <a:r>
              <a:rPr sz="2350" b="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(padding),</a:t>
            </a:r>
            <a:r>
              <a:rPr sz="2350" b="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&lt;unk&gt;=1</a:t>
            </a:r>
            <a:r>
              <a:rPr sz="2350" b="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(unknown),</a:t>
            </a:r>
            <a:r>
              <a:rPr sz="2350" b="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2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&lt;s&gt;=2</a:t>
            </a:r>
            <a:r>
              <a:rPr sz="2350" b="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(start),</a:t>
            </a:r>
            <a:r>
              <a:rPr sz="2350" b="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&lt;/s&gt;=3</a:t>
            </a:r>
            <a:r>
              <a:rPr sz="2350" b="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b="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(end).</a:t>
            </a:r>
            <a:endParaRPr sz="2350" b="0" spc="-9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381000" y="3390900"/>
            <a:ext cx="775335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4" name="Right Arrow 23"/>
          <p:cNvSpPr/>
          <p:nvPr/>
        </p:nvSpPr>
        <p:spPr>
          <a:xfrm>
            <a:off x="381000" y="5067300"/>
            <a:ext cx="775335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5" name="Right Arrow 24"/>
          <p:cNvSpPr/>
          <p:nvPr/>
        </p:nvSpPr>
        <p:spPr>
          <a:xfrm>
            <a:off x="381000" y="6591300"/>
            <a:ext cx="775335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6" name="Right Arrow 25"/>
          <p:cNvSpPr/>
          <p:nvPr/>
        </p:nvSpPr>
        <p:spPr>
          <a:xfrm>
            <a:off x="381000" y="8115300"/>
            <a:ext cx="775335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63" y="627380"/>
            <a:ext cx="64992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25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150" b="1" spc="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-11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G</a:t>
            </a:r>
            <a:endParaRPr sz="21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5" dirty="0"/>
              <a:t>Preprocessing</a:t>
            </a:r>
            <a:r>
              <a:rPr spc="-345" dirty="0"/>
              <a:t> </a:t>
            </a:r>
            <a:r>
              <a:rPr spc="170" dirty="0"/>
              <a:t>Pipeline</a:t>
            </a:r>
            <a:r>
              <a:rPr spc="-340" dirty="0"/>
              <a:t> </a:t>
            </a:r>
            <a:r>
              <a:rPr spc="250" dirty="0"/>
              <a:t>Metrics</a:t>
            </a:r>
            <a:r>
              <a:rPr spc="-340" dirty="0"/>
              <a:t> </a:t>
            </a:r>
            <a:r>
              <a:rPr spc="430" dirty="0"/>
              <a:t>&amp;</a:t>
            </a:r>
            <a:r>
              <a:rPr spc="-340" dirty="0"/>
              <a:t> </a:t>
            </a:r>
            <a:r>
              <a:rPr spc="150" dirty="0"/>
              <a:t>Efficacy</a:t>
            </a:r>
            <a:endParaRPr spc="150" dirty="0"/>
          </a:p>
        </p:txBody>
      </p:sp>
      <p:grpSp>
        <p:nvGrpSpPr>
          <p:cNvPr id="4" name="object 4"/>
          <p:cNvGrpSpPr/>
          <p:nvPr/>
        </p:nvGrpSpPr>
        <p:grpSpPr>
          <a:xfrm>
            <a:off x="1066800" y="2447544"/>
            <a:ext cx="7221220" cy="3792220"/>
            <a:chOff x="1066800" y="2447544"/>
            <a:chExt cx="7221220" cy="3792220"/>
          </a:xfrm>
        </p:grpSpPr>
        <p:sp>
          <p:nvSpPr>
            <p:cNvPr id="5" name="object 5"/>
            <p:cNvSpPr/>
            <p:nvPr/>
          </p:nvSpPr>
          <p:spPr>
            <a:xfrm>
              <a:off x="1066800" y="2447544"/>
              <a:ext cx="7221220" cy="3792220"/>
            </a:xfrm>
            <a:custGeom>
              <a:avLst/>
              <a:gdLst/>
              <a:ahLst/>
              <a:cxnLst/>
              <a:rect l="l" t="t" r="r" b="b"/>
              <a:pathLst>
                <a:path w="7221220" h="3792220">
                  <a:moveTo>
                    <a:pt x="7220711" y="3791711"/>
                  </a:moveTo>
                  <a:lnTo>
                    <a:pt x="0" y="3791711"/>
                  </a:lnTo>
                  <a:lnTo>
                    <a:pt x="0" y="0"/>
                  </a:lnTo>
                  <a:lnTo>
                    <a:pt x="7220711" y="0"/>
                  </a:lnTo>
                  <a:lnTo>
                    <a:pt x="7220711" y="48005"/>
                  </a:lnTo>
                  <a:lnTo>
                    <a:pt x="152399" y="48005"/>
                  </a:lnTo>
                  <a:lnTo>
                    <a:pt x="143016" y="48459"/>
                  </a:lnTo>
                  <a:lnTo>
                    <a:pt x="99471" y="64043"/>
                  </a:lnTo>
                  <a:lnTo>
                    <a:pt x="68409" y="98309"/>
                  </a:lnTo>
                  <a:lnTo>
                    <a:pt x="57149" y="143255"/>
                  </a:lnTo>
                  <a:lnTo>
                    <a:pt x="57149" y="3629405"/>
                  </a:lnTo>
                  <a:lnTo>
                    <a:pt x="68409" y="3674351"/>
                  </a:lnTo>
                  <a:lnTo>
                    <a:pt x="99471" y="3708617"/>
                  </a:lnTo>
                  <a:lnTo>
                    <a:pt x="143016" y="3724202"/>
                  </a:lnTo>
                  <a:lnTo>
                    <a:pt x="152399" y="3724655"/>
                  </a:lnTo>
                  <a:lnTo>
                    <a:pt x="7220711" y="3724655"/>
                  </a:lnTo>
                  <a:lnTo>
                    <a:pt x="7220711" y="3791711"/>
                  </a:lnTo>
                  <a:close/>
                </a:path>
                <a:path w="7221220" h="3792220">
                  <a:moveTo>
                    <a:pt x="7220711" y="3724655"/>
                  </a:moveTo>
                  <a:lnTo>
                    <a:pt x="7067549" y="3724655"/>
                  </a:lnTo>
                  <a:lnTo>
                    <a:pt x="7076932" y="3724202"/>
                  </a:lnTo>
                  <a:lnTo>
                    <a:pt x="7086135" y="3722842"/>
                  </a:lnTo>
                  <a:lnTo>
                    <a:pt x="7127945" y="3703071"/>
                  </a:lnTo>
                  <a:lnTo>
                    <a:pt x="7155548" y="3665855"/>
                  </a:lnTo>
                  <a:lnTo>
                    <a:pt x="7162799" y="3629405"/>
                  </a:lnTo>
                  <a:lnTo>
                    <a:pt x="7162799" y="143255"/>
                  </a:lnTo>
                  <a:lnTo>
                    <a:pt x="7151539" y="98309"/>
                  </a:lnTo>
                  <a:lnTo>
                    <a:pt x="7120476" y="64043"/>
                  </a:lnTo>
                  <a:lnTo>
                    <a:pt x="7076932" y="48459"/>
                  </a:lnTo>
                  <a:lnTo>
                    <a:pt x="7067549" y="48005"/>
                  </a:lnTo>
                  <a:lnTo>
                    <a:pt x="7220711" y="48005"/>
                  </a:lnTo>
                  <a:lnTo>
                    <a:pt x="7220711" y="372465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14424" y="2486024"/>
              <a:ext cx="7124700" cy="3695700"/>
            </a:xfrm>
            <a:custGeom>
              <a:avLst/>
              <a:gdLst/>
              <a:ahLst/>
              <a:cxnLst/>
              <a:rect l="l" t="t" r="r" b="b"/>
              <a:pathLst>
                <a:path w="7124700" h="3695700">
                  <a:moveTo>
                    <a:pt x="7026803" y="3695699"/>
                  </a:moveTo>
                  <a:lnTo>
                    <a:pt x="97895" y="3695699"/>
                  </a:lnTo>
                  <a:lnTo>
                    <a:pt x="91081" y="3695028"/>
                  </a:lnTo>
                  <a:lnTo>
                    <a:pt x="52285" y="3681863"/>
                  </a:lnTo>
                  <a:lnTo>
                    <a:pt x="21479" y="3654854"/>
                  </a:lnTo>
                  <a:lnTo>
                    <a:pt x="3355" y="3618111"/>
                  </a:lnTo>
                  <a:lnTo>
                    <a:pt x="0" y="3597803"/>
                  </a:lnTo>
                  <a:lnTo>
                    <a:pt x="0" y="3590924"/>
                  </a:lnTo>
                  <a:lnTo>
                    <a:pt x="0" y="97895"/>
                  </a:lnTo>
                  <a:lnTo>
                    <a:pt x="10608" y="58323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7026803" y="0"/>
                  </a:lnTo>
                  <a:lnTo>
                    <a:pt x="7066375" y="10608"/>
                  </a:lnTo>
                  <a:lnTo>
                    <a:pt x="7098875" y="35552"/>
                  </a:lnTo>
                  <a:lnTo>
                    <a:pt x="7119355" y="71034"/>
                  </a:lnTo>
                  <a:lnTo>
                    <a:pt x="7124698" y="97895"/>
                  </a:lnTo>
                  <a:lnTo>
                    <a:pt x="7124698" y="3597803"/>
                  </a:lnTo>
                  <a:lnTo>
                    <a:pt x="7114089" y="3637375"/>
                  </a:lnTo>
                  <a:lnTo>
                    <a:pt x="7089146" y="3669875"/>
                  </a:lnTo>
                  <a:lnTo>
                    <a:pt x="7053663" y="3690356"/>
                  </a:lnTo>
                  <a:lnTo>
                    <a:pt x="7033617" y="3695028"/>
                  </a:lnTo>
                  <a:lnTo>
                    <a:pt x="7026803" y="369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14424" y="2486024"/>
              <a:ext cx="7124700" cy="3695700"/>
            </a:xfrm>
            <a:custGeom>
              <a:avLst/>
              <a:gdLst/>
              <a:ahLst/>
              <a:cxnLst/>
              <a:rect l="l" t="t" r="r" b="b"/>
              <a:pathLst>
                <a:path w="7124700" h="3695700">
                  <a:moveTo>
                    <a:pt x="0" y="359092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25823" y="35552"/>
                  </a:lnTo>
                  <a:lnTo>
                    <a:pt x="30687" y="30687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7019924" y="0"/>
                  </a:lnTo>
                  <a:lnTo>
                    <a:pt x="7026803" y="0"/>
                  </a:lnTo>
                  <a:lnTo>
                    <a:pt x="7033617" y="671"/>
                  </a:lnTo>
                  <a:lnTo>
                    <a:pt x="7072413" y="13835"/>
                  </a:lnTo>
                  <a:lnTo>
                    <a:pt x="7078133" y="17657"/>
                  </a:lnTo>
                  <a:lnTo>
                    <a:pt x="7083853" y="21479"/>
                  </a:lnTo>
                  <a:lnTo>
                    <a:pt x="7110862" y="52284"/>
                  </a:lnTo>
                  <a:lnTo>
                    <a:pt x="7124027" y="91081"/>
                  </a:lnTo>
                  <a:lnTo>
                    <a:pt x="7124699" y="104774"/>
                  </a:lnTo>
                  <a:lnTo>
                    <a:pt x="7124699" y="3590924"/>
                  </a:lnTo>
                  <a:lnTo>
                    <a:pt x="7116722" y="3631019"/>
                  </a:lnTo>
                  <a:lnTo>
                    <a:pt x="7107040" y="3649133"/>
                  </a:lnTo>
                  <a:lnTo>
                    <a:pt x="7103218" y="3654854"/>
                  </a:lnTo>
                  <a:lnTo>
                    <a:pt x="7078133" y="3678040"/>
                  </a:lnTo>
                  <a:lnTo>
                    <a:pt x="7072413" y="3681863"/>
                  </a:lnTo>
                  <a:lnTo>
                    <a:pt x="7033617" y="3695028"/>
                  </a:lnTo>
                  <a:lnTo>
                    <a:pt x="7026803" y="3695699"/>
                  </a:lnTo>
                  <a:lnTo>
                    <a:pt x="7019924" y="3695699"/>
                  </a:lnTo>
                  <a:lnTo>
                    <a:pt x="104775" y="3695699"/>
                  </a:lnTo>
                  <a:lnTo>
                    <a:pt x="97895" y="3695699"/>
                  </a:lnTo>
                  <a:lnTo>
                    <a:pt x="91081" y="3695028"/>
                  </a:lnTo>
                  <a:lnTo>
                    <a:pt x="84334" y="3693686"/>
                  </a:lnTo>
                  <a:lnTo>
                    <a:pt x="77586" y="3692344"/>
                  </a:lnTo>
                  <a:lnTo>
                    <a:pt x="71035" y="3690356"/>
                  </a:lnTo>
                  <a:lnTo>
                    <a:pt x="64679" y="3687724"/>
                  </a:lnTo>
                  <a:lnTo>
                    <a:pt x="58323" y="3685091"/>
                  </a:lnTo>
                  <a:lnTo>
                    <a:pt x="52285" y="3681863"/>
                  </a:lnTo>
                  <a:lnTo>
                    <a:pt x="46565" y="3678040"/>
                  </a:lnTo>
                  <a:lnTo>
                    <a:pt x="40844" y="3674219"/>
                  </a:lnTo>
                  <a:lnTo>
                    <a:pt x="17657" y="3649133"/>
                  </a:lnTo>
                  <a:lnTo>
                    <a:pt x="13835" y="3643413"/>
                  </a:lnTo>
                  <a:lnTo>
                    <a:pt x="2013" y="3611364"/>
                  </a:lnTo>
                  <a:lnTo>
                    <a:pt x="671" y="3604617"/>
                  </a:lnTo>
                  <a:lnTo>
                    <a:pt x="0" y="3597803"/>
                  </a:lnTo>
                  <a:lnTo>
                    <a:pt x="0" y="3590924"/>
                  </a:lnTo>
                  <a:close/>
                </a:path>
              </a:pathLst>
            </a:custGeom>
            <a:ln w="19049">
              <a:solidFill>
                <a:srgbClr val="F2F4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350815" y="2876613"/>
            <a:ext cx="25946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65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-260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-254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4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="1" spc="475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70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-254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000" b="1" spc="-254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85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-254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85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-254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70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-254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70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-254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55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-254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70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-254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solidFill>
                  <a:srgbClr val="9CA2AF"/>
                </a:solidFill>
                <a:latin typeface="Arial" panose="020B0604020202020204"/>
                <a:cs typeface="Arial" panose="020B0604020202020204"/>
              </a:rPr>
              <a:t>D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0727" y="3321050"/>
            <a:ext cx="4033520" cy="212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600" b="1" spc="555" dirty="0">
                <a:solidFill>
                  <a:srgbClr val="D0D5DB"/>
                </a:solidFill>
                <a:latin typeface="Arial" panose="020B0604020202020204"/>
                <a:cs typeface="Arial" panose="020B0604020202020204"/>
              </a:rPr>
              <a:t>~500K</a:t>
            </a:r>
            <a:endParaRPr sz="9600">
              <a:latin typeface="Arial" panose="020B0604020202020204"/>
              <a:cs typeface="Arial" panose="020B0604020202020204"/>
            </a:endParaRPr>
          </a:p>
          <a:p>
            <a:pPr marR="4445" algn="ctr">
              <a:lnSpc>
                <a:spcPct val="100000"/>
              </a:lnSpc>
              <a:spcBef>
                <a:spcPts val="2080"/>
              </a:spcBef>
            </a:pPr>
            <a:r>
              <a:rPr sz="2450" spc="-9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lines</a:t>
            </a:r>
            <a:r>
              <a:rPr sz="2450" spc="-14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collected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48649" y="4286249"/>
            <a:ext cx="1809750" cy="38100"/>
          </a:xfrm>
          <a:custGeom>
            <a:avLst/>
            <a:gdLst/>
            <a:ahLst/>
            <a:cxnLst/>
            <a:rect l="l" t="t" r="r" b="b"/>
            <a:pathLst>
              <a:path w="1809750" h="38100">
                <a:moveTo>
                  <a:pt x="1809749" y="38099"/>
                </a:moveTo>
                <a:lnTo>
                  <a:pt x="0" y="38099"/>
                </a:lnTo>
                <a:lnTo>
                  <a:pt x="0" y="0"/>
                </a:lnTo>
                <a:lnTo>
                  <a:pt x="1809749" y="0"/>
                </a:lnTo>
                <a:lnTo>
                  <a:pt x="1809749" y="380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320484" y="3949700"/>
            <a:ext cx="164718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8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24%</a:t>
            </a:r>
            <a:r>
              <a:rPr sz="2100" b="1" spc="-13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10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pruned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018776" y="2447544"/>
            <a:ext cx="7223759" cy="3792220"/>
            <a:chOff x="10018776" y="2447544"/>
            <a:chExt cx="7223759" cy="3792220"/>
          </a:xfrm>
        </p:grpSpPr>
        <p:sp>
          <p:nvSpPr>
            <p:cNvPr id="13" name="object 13"/>
            <p:cNvSpPr/>
            <p:nvPr/>
          </p:nvSpPr>
          <p:spPr>
            <a:xfrm>
              <a:off x="10018776" y="2447544"/>
              <a:ext cx="7223759" cy="3792220"/>
            </a:xfrm>
            <a:custGeom>
              <a:avLst/>
              <a:gdLst/>
              <a:ahLst/>
              <a:cxnLst/>
              <a:rect l="l" t="t" r="r" b="b"/>
              <a:pathLst>
                <a:path w="7223759" h="3792220">
                  <a:moveTo>
                    <a:pt x="7223759" y="3791711"/>
                  </a:moveTo>
                  <a:lnTo>
                    <a:pt x="0" y="3791711"/>
                  </a:lnTo>
                  <a:lnTo>
                    <a:pt x="0" y="0"/>
                  </a:lnTo>
                  <a:lnTo>
                    <a:pt x="7223759" y="0"/>
                  </a:lnTo>
                  <a:lnTo>
                    <a:pt x="7223759" y="48005"/>
                  </a:lnTo>
                  <a:lnTo>
                    <a:pt x="153923" y="48005"/>
                  </a:lnTo>
                  <a:lnTo>
                    <a:pt x="144540" y="48459"/>
                  </a:lnTo>
                  <a:lnTo>
                    <a:pt x="100995" y="64043"/>
                  </a:lnTo>
                  <a:lnTo>
                    <a:pt x="69933" y="98309"/>
                  </a:lnTo>
                  <a:lnTo>
                    <a:pt x="58673" y="143255"/>
                  </a:lnTo>
                  <a:lnTo>
                    <a:pt x="58673" y="3629405"/>
                  </a:lnTo>
                  <a:lnTo>
                    <a:pt x="69933" y="3674351"/>
                  </a:lnTo>
                  <a:lnTo>
                    <a:pt x="100995" y="3708617"/>
                  </a:lnTo>
                  <a:lnTo>
                    <a:pt x="144540" y="3724202"/>
                  </a:lnTo>
                  <a:lnTo>
                    <a:pt x="153923" y="3724655"/>
                  </a:lnTo>
                  <a:lnTo>
                    <a:pt x="7223759" y="3724655"/>
                  </a:lnTo>
                  <a:lnTo>
                    <a:pt x="7223759" y="3791711"/>
                  </a:lnTo>
                  <a:close/>
                </a:path>
                <a:path w="7223759" h="3792220">
                  <a:moveTo>
                    <a:pt x="7223759" y="3724655"/>
                  </a:moveTo>
                  <a:lnTo>
                    <a:pt x="7069073" y="3724655"/>
                  </a:lnTo>
                  <a:lnTo>
                    <a:pt x="7078456" y="3724202"/>
                  </a:lnTo>
                  <a:lnTo>
                    <a:pt x="7087659" y="3722842"/>
                  </a:lnTo>
                  <a:lnTo>
                    <a:pt x="7129468" y="3703071"/>
                  </a:lnTo>
                  <a:lnTo>
                    <a:pt x="7157071" y="3665855"/>
                  </a:lnTo>
                  <a:lnTo>
                    <a:pt x="7164323" y="3629405"/>
                  </a:lnTo>
                  <a:lnTo>
                    <a:pt x="7164323" y="143255"/>
                  </a:lnTo>
                  <a:lnTo>
                    <a:pt x="7153061" y="98309"/>
                  </a:lnTo>
                  <a:lnTo>
                    <a:pt x="7121999" y="64043"/>
                  </a:lnTo>
                  <a:lnTo>
                    <a:pt x="7078456" y="48459"/>
                  </a:lnTo>
                  <a:lnTo>
                    <a:pt x="7069073" y="48005"/>
                  </a:lnTo>
                  <a:lnTo>
                    <a:pt x="7223759" y="48005"/>
                  </a:lnTo>
                  <a:lnTo>
                    <a:pt x="7223759" y="372465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067923" y="2486024"/>
              <a:ext cx="7124700" cy="3695700"/>
            </a:xfrm>
            <a:custGeom>
              <a:avLst/>
              <a:gdLst/>
              <a:ahLst/>
              <a:cxnLst/>
              <a:rect l="l" t="t" r="r" b="b"/>
              <a:pathLst>
                <a:path w="7124700" h="3695700">
                  <a:moveTo>
                    <a:pt x="7026805" y="3695699"/>
                  </a:moveTo>
                  <a:lnTo>
                    <a:pt x="97896" y="3695699"/>
                  </a:lnTo>
                  <a:lnTo>
                    <a:pt x="91081" y="3695028"/>
                  </a:lnTo>
                  <a:lnTo>
                    <a:pt x="52285" y="3681863"/>
                  </a:lnTo>
                  <a:lnTo>
                    <a:pt x="21480" y="3654854"/>
                  </a:lnTo>
                  <a:lnTo>
                    <a:pt x="3355" y="3618111"/>
                  </a:lnTo>
                  <a:lnTo>
                    <a:pt x="0" y="3597803"/>
                  </a:lnTo>
                  <a:lnTo>
                    <a:pt x="1" y="3590924"/>
                  </a:lnTo>
                  <a:lnTo>
                    <a:pt x="0" y="97895"/>
                  </a:lnTo>
                  <a:lnTo>
                    <a:pt x="10607" y="58323"/>
                  </a:lnTo>
                  <a:lnTo>
                    <a:pt x="35552" y="25823"/>
                  </a:lnTo>
                  <a:lnTo>
                    <a:pt x="71036" y="5342"/>
                  </a:lnTo>
                  <a:lnTo>
                    <a:pt x="97896" y="0"/>
                  </a:lnTo>
                  <a:lnTo>
                    <a:pt x="7026805" y="0"/>
                  </a:lnTo>
                  <a:lnTo>
                    <a:pt x="7066375" y="10608"/>
                  </a:lnTo>
                  <a:lnTo>
                    <a:pt x="7098874" y="35552"/>
                  </a:lnTo>
                  <a:lnTo>
                    <a:pt x="7119356" y="71034"/>
                  </a:lnTo>
                  <a:lnTo>
                    <a:pt x="7124700" y="97895"/>
                  </a:lnTo>
                  <a:lnTo>
                    <a:pt x="7124700" y="3597803"/>
                  </a:lnTo>
                  <a:lnTo>
                    <a:pt x="7114089" y="3637375"/>
                  </a:lnTo>
                  <a:lnTo>
                    <a:pt x="7089146" y="3669875"/>
                  </a:lnTo>
                  <a:lnTo>
                    <a:pt x="7053661" y="3690356"/>
                  </a:lnTo>
                  <a:lnTo>
                    <a:pt x="7033617" y="3695028"/>
                  </a:lnTo>
                  <a:lnTo>
                    <a:pt x="7026805" y="369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067923" y="2486024"/>
              <a:ext cx="7124700" cy="3695700"/>
            </a:xfrm>
            <a:custGeom>
              <a:avLst/>
              <a:gdLst/>
              <a:ahLst/>
              <a:cxnLst/>
              <a:rect l="l" t="t" r="r" b="b"/>
              <a:pathLst>
                <a:path w="7124700" h="3695700">
                  <a:moveTo>
                    <a:pt x="1" y="3590924"/>
                  </a:moveTo>
                  <a:lnTo>
                    <a:pt x="1" y="104774"/>
                  </a:lnTo>
                  <a:lnTo>
                    <a:pt x="0" y="97895"/>
                  </a:lnTo>
                  <a:lnTo>
                    <a:pt x="670" y="91081"/>
                  </a:lnTo>
                  <a:lnTo>
                    <a:pt x="2012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7" y="58323"/>
                  </a:lnTo>
                  <a:lnTo>
                    <a:pt x="30688" y="30687"/>
                  </a:lnTo>
                  <a:lnTo>
                    <a:pt x="35552" y="25823"/>
                  </a:lnTo>
                  <a:lnTo>
                    <a:pt x="40845" y="21479"/>
                  </a:lnTo>
                  <a:lnTo>
                    <a:pt x="46565" y="17657"/>
                  </a:lnTo>
                  <a:lnTo>
                    <a:pt x="52285" y="13835"/>
                  </a:lnTo>
                  <a:lnTo>
                    <a:pt x="91081" y="671"/>
                  </a:lnTo>
                  <a:lnTo>
                    <a:pt x="97896" y="0"/>
                  </a:lnTo>
                  <a:lnTo>
                    <a:pt x="104776" y="0"/>
                  </a:lnTo>
                  <a:lnTo>
                    <a:pt x="7019925" y="0"/>
                  </a:lnTo>
                  <a:lnTo>
                    <a:pt x="7026805" y="0"/>
                  </a:lnTo>
                  <a:lnTo>
                    <a:pt x="7033617" y="671"/>
                  </a:lnTo>
                  <a:lnTo>
                    <a:pt x="7040365" y="2013"/>
                  </a:lnTo>
                  <a:lnTo>
                    <a:pt x="7047111" y="3355"/>
                  </a:lnTo>
                  <a:lnTo>
                    <a:pt x="7053661" y="5342"/>
                  </a:lnTo>
                  <a:lnTo>
                    <a:pt x="7060018" y="7975"/>
                  </a:lnTo>
                  <a:lnTo>
                    <a:pt x="7066375" y="10608"/>
                  </a:lnTo>
                  <a:lnTo>
                    <a:pt x="7094010" y="30687"/>
                  </a:lnTo>
                  <a:lnTo>
                    <a:pt x="7098874" y="35552"/>
                  </a:lnTo>
                  <a:lnTo>
                    <a:pt x="7119356" y="71034"/>
                  </a:lnTo>
                  <a:lnTo>
                    <a:pt x="7124700" y="97895"/>
                  </a:lnTo>
                  <a:lnTo>
                    <a:pt x="7124700" y="104774"/>
                  </a:lnTo>
                  <a:lnTo>
                    <a:pt x="7124700" y="3590924"/>
                  </a:lnTo>
                  <a:lnTo>
                    <a:pt x="7124700" y="3597803"/>
                  </a:lnTo>
                  <a:lnTo>
                    <a:pt x="7124029" y="3604617"/>
                  </a:lnTo>
                  <a:lnTo>
                    <a:pt x="7110861" y="3643413"/>
                  </a:lnTo>
                  <a:lnTo>
                    <a:pt x="7107040" y="3649133"/>
                  </a:lnTo>
                  <a:lnTo>
                    <a:pt x="7103218" y="3654854"/>
                  </a:lnTo>
                  <a:lnTo>
                    <a:pt x="7078132" y="3678040"/>
                  </a:lnTo>
                  <a:lnTo>
                    <a:pt x="7072413" y="3681863"/>
                  </a:lnTo>
                  <a:lnTo>
                    <a:pt x="7066375" y="3685091"/>
                  </a:lnTo>
                  <a:lnTo>
                    <a:pt x="7060018" y="3687724"/>
                  </a:lnTo>
                  <a:lnTo>
                    <a:pt x="7053661" y="3690356"/>
                  </a:lnTo>
                  <a:lnTo>
                    <a:pt x="7047111" y="3692344"/>
                  </a:lnTo>
                  <a:lnTo>
                    <a:pt x="7040365" y="3693686"/>
                  </a:lnTo>
                  <a:lnTo>
                    <a:pt x="7033617" y="3695028"/>
                  </a:lnTo>
                  <a:lnTo>
                    <a:pt x="7026805" y="3695699"/>
                  </a:lnTo>
                  <a:lnTo>
                    <a:pt x="7019925" y="3695699"/>
                  </a:lnTo>
                  <a:lnTo>
                    <a:pt x="104776" y="3695699"/>
                  </a:lnTo>
                  <a:lnTo>
                    <a:pt x="97896" y="3695699"/>
                  </a:lnTo>
                  <a:lnTo>
                    <a:pt x="91081" y="3695028"/>
                  </a:lnTo>
                  <a:lnTo>
                    <a:pt x="84334" y="3693686"/>
                  </a:lnTo>
                  <a:lnTo>
                    <a:pt x="77587" y="3692344"/>
                  </a:lnTo>
                  <a:lnTo>
                    <a:pt x="71036" y="3690356"/>
                  </a:lnTo>
                  <a:lnTo>
                    <a:pt x="64679" y="3687724"/>
                  </a:lnTo>
                  <a:lnTo>
                    <a:pt x="58323" y="3685091"/>
                  </a:lnTo>
                  <a:lnTo>
                    <a:pt x="30688" y="3665011"/>
                  </a:lnTo>
                  <a:lnTo>
                    <a:pt x="25823" y="3660146"/>
                  </a:lnTo>
                  <a:lnTo>
                    <a:pt x="5342" y="3624663"/>
                  </a:lnTo>
                  <a:lnTo>
                    <a:pt x="0" y="3597803"/>
                  </a:lnTo>
                  <a:lnTo>
                    <a:pt x="1" y="3590924"/>
                  </a:lnTo>
                  <a:close/>
                </a:path>
              </a:pathLst>
            </a:custGeom>
            <a:ln w="19049">
              <a:solidFill>
                <a:srgbClr val="F2F4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2153403" y="2876613"/>
            <a:ext cx="28962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-2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spc="-25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6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-25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-2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5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-25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-25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4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4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000" b="1" spc="47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-26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85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-25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7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-25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-254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solidFill>
                  <a:srgbClr val="3B81F5"/>
                </a:solidFill>
                <a:latin typeface="Arial" panose="020B0604020202020204"/>
                <a:cs typeface="Arial" panose="020B0604020202020204"/>
              </a:rPr>
              <a:t>N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33992" y="3321050"/>
            <a:ext cx="3973195" cy="212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600" b="1" spc="459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~380K</a:t>
            </a:r>
            <a:endParaRPr sz="9600">
              <a:latin typeface="Arial" panose="020B0604020202020204"/>
              <a:cs typeface="Arial" panose="020B0604020202020204"/>
            </a:endParaRPr>
          </a:p>
          <a:p>
            <a:pPr marL="1270" algn="ctr">
              <a:lnSpc>
                <a:spcPct val="100000"/>
              </a:lnSpc>
              <a:spcBef>
                <a:spcPts val="2080"/>
              </a:spcBef>
            </a:pPr>
            <a:r>
              <a:rPr sz="2450" spc="-5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pristine</a:t>
            </a:r>
            <a:r>
              <a:rPr sz="2450" spc="-14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parallel </a:t>
            </a:r>
            <a:r>
              <a:rPr sz="2450" spc="-20" dirty="0">
                <a:solidFill>
                  <a:srgbClr val="6A7280"/>
                </a:solidFill>
                <a:latin typeface="Microsoft Sans Serif" panose="020B0604020202020204"/>
                <a:cs typeface="Microsoft Sans Serif" panose="020B0604020202020204"/>
              </a:rPr>
              <a:t>pairs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66800" y="6541007"/>
            <a:ext cx="5163820" cy="1831975"/>
            <a:chOff x="1066800" y="6541007"/>
            <a:chExt cx="5163820" cy="1831975"/>
          </a:xfrm>
        </p:grpSpPr>
        <p:sp>
          <p:nvSpPr>
            <p:cNvPr id="19" name="object 19"/>
            <p:cNvSpPr/>
            <p:nvPr/>
          </p:nvSpPr>
          <p:spPr>
            <a:xfrm>
              <a:off x="1066800" y="6541007"/>
              <a:ext cx="5163820" cy="1831975"/>
            </a:xfrm>
            <a:custGeom>
              <a:avLst/>
              <a:gdLst/>
              <a:ahLst/>
              <a:cxnLst/>
              <a:rect l="l" t="t" r="r" b="b"/>
              <a:pathLst>
                <a:path w="5163820" h="1831975">
                  <a:moveTo>
                    <a:pt x="5163311" y="1831847"/>
                  </a:moveTo>
                  <a:lnTo>
                    <a:pt x="0" y="1831847"/>
                  </a:lnTo>
                  <a:lnTo>
                    <a:pt x="0" y="0"/>
                  </a:lnTo>
                  <a:lnTo>
                    <a:pt x="5163311" y="0"/>
                  </a:lnTo>
                  <a:lnTo>
                    <a:pt x="5163311" y="50291"/>
                  </a:lnTo>
                  <a:lnTo>
                    <a:pt x="152399" y="50291"/>
                  </a:lnTo>
                  <a:lnTo>
                    <a:pt x="143016" y="50745"/>
                  </a:lnTo>
                  <a:lnTo>
                    <a:pt x="99471" y="66328"/>
                  </a:lnTo>
                  <a:lnTo>
                    <a:pt x="68409" y="100595"/>
                  </a:lnTo>
                  <a:lnTo>
                    <a:pt x="57149" y="145541"/>
                  </a:lnTo>
                  <a:lnTo>
                    <a:pt x="57149" y="1669541"/>
                  </a:lnTo>
                  <a:lnTo>
                    <a:pt x="68409" y="1714487"/>
                  </a:lnTo>
                  <a:lnTo>
                    <a:pt x="99471" y="1748753"/>
                  </a:lnTo>
                  <a:lnTo>
                    <a:pt x="143016" y="1764338"/>
                  </a:lnTo>
                  <a:lnTo>
                    <a:pt x="152399" y="1764791"/>
                  </a:lnTo>
                  <a:lnTo>
                    <a:pt x="5163311" y="1764791"/>
                  </a:lnTo>
                  <a:lnTo>
                    <a:pt x="5163311" y="1831847"/>
                  </a:lnTo>
                  <a:close/>
                </a:path>
                <a:path w="5163820" h="1831975">
                  <a:moveTo>
                    <a:pt x="5163311" y="1764791"/>
                  </a:moveTo>
                  <a:lnTo>
                    <a:pt x="5010149" y="1764791"/>
                  </a:lnTo>
                  <a:lnTo>
                    <a:pt x="5019532" y="1764338"/>
                  </a:lnTo>
                  <a:lnTo>
                    <a:pt x="5028735" y="1762978"/>
                  </a:lnTo>
                  <a:lnTo>
                    <a:pt x="5070545" y="1743207"/>
                  </a:lnTo>
                  <a:lnTo>
                    <a:pt x="5098148" y="1705992"/>
                  </a:lnTo>
                  <a:lnTo>
                    <a:pt x="5105399" y="1669541"/>
                  </a:lnTo>
                  <a:lnTo>
                    <a:pt x="5105399" y="145541"/>
                  </a:lnTo>
                  <a:lnTo>
                    <a:pt x="5094138" y="100595"/>
                  </a:lnTo>
                  <a:lnTo>
                    <a:pt x="5063077" y="66328"/>
                  </a:lnTo>
                  <a:lnTo>
                    <a:pt x="5019532" y="50745"/>
                  </a:lnTo>
                  <a:lnTo>
                    <a:pt x="5010149" y="50291"/>
                  </a:lnTo>
                  <a:lnTo>
                    <a:pt x="5163311" y="50291"/>
                  </a:lnTo>
                  <a:lnTo>
                    <a:pt x="5163311" y="176479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14424" y="6581774"/>
              <a:ext cx="5067300" cy="1733550"/>
            </a:xfrm>
            <a:custGeom>
              <a:avLst/>
              <a:gdLst/>
              <a:ahLst/>
              <a:cxnLst/>
              <a:rect l="l" t="t" r="r" b="b"/>
              <a:pathLst>
                <a:path w="5067300" h="1733550">
                  <a:moveTo>
                    <a:pt x="4969403" y="1733549"/>
                  </a:moveTo>
                  <a:lnTo>
                    <a:pt x="97895" y="1733549"/>
                  </a:lnTo>
                  <a:lnTo>
                    <a:pt x="91081" y="1732878"/>
                  </a:lnTo>
                  <a:lnTo>
                    <a:pt x="52285" y="1719713"/>
                  </a:lnTo>
                  <a:lnTo>
                    <a:pt x="21479" y="1692703"/>
                  </a:lnTo>
                  <a:lnTo>
                    <a:pt x="3355" y="1655962"/>
                  </a:lnTo>
                  <a:lnTo>
                    <a:pt x="0" y="1635654"/>
                  </a:lnTo>
                  <a:lnTo>
                    <a:pt x="0" y="1628774"/>
                  </a:lnTo>
                  <a:lnTo>
                    <a:pt x="0" y="97895"/>
                  </a:lnTo>
                  <a:lnTo>
                    <a:pt x="10608" y="58322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4969403" y="0"/>
                  </a:lnTo>
                  <a:lnTo>
                    <a:pt x="5008975" y="10607"/>
                  </a:lnTo>
                  <a:lnTo>
                    <a:pt x="5041475" y="35552"/>
                  </a:lnTo>
                  <a:lnTo>
                    <a:pt x="5061956" y="71034"/>
                  </a:lnTo>
                  <a:lnTo>
                    <a:pt x="5067299" y="97895"/>
                  </a:lnTo>
                  <a:lnTo>
                    <a:pt x="5067299" y="1635654"/>
                  </a:lnTo>
                  <a:lnTo>
                    <a:pt x="5056691" y="1675225"/>
                  </a:lnTo>
                  <a:lnTo>
                    <a:pt x="5031746" y="1707725"/>
                  </a:lnTo>
                  <a:lnTo>
                    <a:pt x="4996263" y="1728206"/>
                  </a:lnTo>
                  <a:lnTo>
                    <a:pt x="4976217" y="1732878"/>
                  </a:lnTo>
                  <a:lnTo>
                    <a:pt x="4969403" y="1733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14424" y="6581774"/>
              <a:ext cx="5067300" cy="1733550"/>
            </a:xfrm>
            <a:custGeom>
              <a:avLst/>
              <a:gdLst/>
              <a:ahLst/>
              <a:cxnLst/>
              <a:rect l="l" t="t" r="r" b="b"/>
              <a:pathLst>
                <a:path w="5067300" h="1733550">
                  <a:moveTo>
                    <a:pt x="0" y="16287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8" y="58322"/>
                  </a:lnTo>
                  <a:lnTo>
                    <a:pt x="13835" y="52284"/>
                  </a:lnTo>
                  <a:lnTo>
                    <a:pt x="17657" y="46564"/>
                  </a:lnTo>
                  <a:lnTo>
                    <a:pt x="21479" y="40844"/>
                  </a:lnTo>
                  <a:lnTo>
                    <a:pt x="52285" y="13835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4962524" y="0"/>
                  </a:lnTo>
                  <a:lnTo>
                    <a:pt x="4969403" y="0"/>
                  </a:lnTo>
                  <a:lnTo>
                    <a:pt x="4976217" y="670"/>
                  </a:lnTo>
                  <a:lnTo>
                    <a:pt x="5015013" y="13835"/>
                  </a:lnTo>
                  <a:lnTo>
                    <a:pt x="5045819" y="40844"/>
                  </a:lnTo>
                  <a:lnTo>
                    <a:pt x="5049640" y="46564"/>
                  </a:lnTo>
                  <a:lnTo>
                    <a:pt x="5053463" y="52284"/>
                  </a:lnTo>
                  <a:lnTo>
                    <a:pt x="5056691" y="58322"/>
                  </a:lnTo>
                  <a:lnTo>
                    <a:pt x="5059324" y="64678"/>
                  </a:lnTo>
                  <a:lnTo>
                    <a:pt x="5061956" y="71034"/>
                  </a:lnTo>
                  <a:lnTo>
                    <a:pt x="5063944" y="77586"/>
                  </a:lnTo>
                  <a:lnTo>
                    <a:pt x="5065286" y="84334"/>
                  </a:lnTo>
                  <a:lnTo>
                    <a:pt x="5066628" y="91081"/>
                  </a:lnTo>
                  <a:lnTo>
                    <a:pt x="5067299" y="97895"/>
                  </a:lnTo>
                  <a:lnTo>
                    <a:pt x="5067299" y="104774"/>
                  </a:lnTo>
                  <a:lnTo>
                    <a:pt x="5067299" y="1628774"/>
                  </a:lnTo>
                  <a:lnTo>
                    <a:pt x="5067299" y="1635654"/>
                  </a:lnTo>
                  <a:lnTo>
                    <a:pt x="5066628" y="1642467"/>
                  </a:lnTo>
                  <a:lnTo>
                    <a:pt x="5053463" y="1681263"/>
                  </a:lnTo>
                  <a:lnTo>
                    <a:pt x="5049640" y="1686983"/>
                  </a:lnTo>
                  <a:lnTo>
                    <a:pt x="5045819" y="1692703"/>
                  </a:lnTo>
                  <a:lnTo>
                    <a:pt x="5020733" y="1715891"/>
                  </a:lnTo>
                  <a:lnTo>
                    <a:pt x="5015013" y="1719713"/>
                  </a:lnTo>
                  <a:lnTo>
                    <a:pt x="4976217" y="1732878"/>
                  </a:lnTo>
                  <a:lnTo>
                    <a:pt x="4969403" y="1733549"/>
                  </a:lnTo>
                  <a:lnTo>
                    <a:pt x="4962524" y="1733549"/>
                  </a:lnTo>
                  <a:lnTo>
                    <a:pt x="104775" y="1733549"/>
                  </a:lnTo>
                  <a:lnTo>
                    <a:pt x="97895" y="1733549"/>
                  </a:lnTo>
                  <a:lnTo>
                    <a:pt x="91081" y="1732878"/>
                  </a:lnTo>
                  <a:lnTo>
                    <a:pt x="52285" y="1719713"/>
                  </a:lnTo>
                  <a:lnTo>
                    <a:pt x="46565" y="1715891"/>
                  </a:lnTo>
                  <a:lnTo>
                    <a:pt x="40844" y="1712068"/>
                  </a:lnTo>
                  <a:lnTo>
                    <a:pt x="17657" y="1686983"/>
                  </a:lnTo>
                  <a:lnTo>
                    <a:pt x="13835" y="1681263"/>
                  </a:lnTo>
                  <a:lnTo>
                    <a:pt x="2013" y="1649214"/>
                  </a:lnTo>
                  <a:lnTo>
                    <a:pt x="671" y="1642467"/>
                  </a:lnTo>
                  <a:lnTo>
                    <a:pt x="0" y="1635654"/>
                  </a:lnTo>
                  <a:lnTo>
                    <a:pt x="0" y="1628774"/>
                  </a:lnTo>
                  <a:close/>
                </a:path>
              </a:pathLst>
            </a:custGeom>
            <a:ln w="19049">
              <a:solidFill>
                <a:srgbClr val="F2F4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331342" y="6932586"/>
            <a:ext cx="2605405" cy="13823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510"/>
              </a:spcBef>
            </a:pPr>
            <a:r>
              <a:rPr sz="1900" b="1" spc="135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TRAIN</a:t>
            </a:r>
            <a:r>
              <a:rPr sz="1900" b="1" spc="275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spc="-25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SET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8890" algn="ctr">
              <a:lnSpc>
                <a:spcPts val="4700"/>
              </a:lnSpc>
              <a:spcBef>
                <a:spcPts val="870"/>
              </a:spcBef>
            </a:pPr>
            <a:r>
              <a:rPr sz="4000" b="1" spc="16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360K+</a:t>
            </a:r>
            <a:endParaRPr sz="40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2420"/>
              </a:lnSpc>
            </a:pPr>
            <a:r>
              <a:rPr sz="2100" spc="-10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pairs</a:t>
            </a:r>
            <a:r>
              <a:rPr sz="2100" spc="-13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-9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after</a:t>
            </a:r>
            <a:r>
              <a:rPr sz="2100" spc="-18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-45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deduplication</a:t>
            </a:r>
            <a:endParaRPr sz="21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31864" y="6541007"/>
            <a:ext cx="5224780" cy="1831975"/>
            <a:chOff x="6531864" y="6541007"/>
            <a:chExt cx="5224780" cy="1831975"/>
          </a:xfrm>
        </p:grpSpPr>
        <p:sp>
          <p:nvSpPr>
            <p:cNvPr id="24" name="object 24"/>
            <p:cNvSpPr/>
            <p:nvPr/>
          </p:nvSpPr>
          <p:spPr>
            <a:xfrm>
              <a:off x="6531864" y="6541007"/>
              <a:ext cx="5224780" cy="1831975"/>
            </a:xfrm>
            <a:custGeom>
              <a:avLst/>
              <a:gdLst/>
              <a:ahLst/>
              <a:cxnLst/>
              <a:rect l="l" t="t" r="r" b="b"/>
              <a:pathLst>
                <a:path w="5224780" h="1831975">
                  <a:moveTo>
                    <a:pt x="5224271" y="1831847"/>
                  </a:moveTo>
                  <a:lnTo>
                    <a:pt x="0" y="1831847"/>
                  </a:lnTo>
                  <a:lnTo>
                    <a:pt x="0" y="0"/>
                  </a:lnTo>
                  <a:lnTo>
                    <a:pt x="5224271" y="0"/>
                  </a:lnTo>
                  <a:lnTo>
                    <a:pt x="5224271" y="50291"/>
                  </a:lnTo>
                  <a:lnTo>
                    <a:pt x="154685" y="50291"/>
                  </a:lnTo>
                  <a:lnTo>
                    <a:pt x="145302" y="50745"/>
                  </a:lnTo>
                  <a:lnTo>
                    <a:pt x="101757" y="66328"/>
                  </a:lnTo>
                  <a:lnTo>
                    <a:pt x="70694" y="100595"/>
                  </a:lnTo>
                  <a:lnTo>
                    <a:pt x="59435" y="145541"/>
                  </a:lnTo>
                  <a:lnTo>
                    <a:pt x="59435" y="1669541"/>
                  </a:lnTo>
                  <a:lnTo>
                    <a:pt x="70694" y="1714487"/>
                  </a:lnTo>
                  <a:lnTo>
                    <a:pt x="101757" y="1748753"/>
                  </a:lnTo>
                  <a:lnTo>
                    <a:pt x="145302" y="1764338"/>
                  </a:lnTo>
                  <a:lnTo>
                    <a:pt x="154685" y="1764791"/>
                  </a:lnTo>
                  <a:lnTo>
                    <a:pt x="5224271" y="1764791"/>
                  </a:lnTo>
                  <a:lnTo>
                    <a:pt x="5224271" y="1831847"/>
                  </a:lnTo>
                  <a:close/>
                </a:path>
                <a:path w="5224780" h="1831975">
                  <a:moveTo>
                    <a:pt x="5224271" y="1764791"/>
                  </a:moveTo>
                  <a:lnTo>
                    <a:pt x="5069585" y="1764791"/>
                  </a:lnTo>
                  <a:lnTo>
                    <a:pt x="5078968" y="1764338"/>
                  </a:lnTo>
                  <a:lnTo>
                    <a:pt x="5088171" y="1762978"/>
                  </a:lnTo>
                  <a:lnTo>
                    <a:pt x="5129981" y="1743207"/>
                  </a:lnTo>
                  <a:lnTo>
                    <a:pt x="5157584" y="1705992"/>
                  </a:lnTo>
                  <a:lnTo>
                    <a:pt x="5164835" y="1669541"/>
                  </a:lnTo>
                  <a:lnTo>
                    <a:pt x="5164835" y="145541"/>
                  </a:lnTo>
                  <a:lnTo>
                    <a:pt x="5153575" y="100595"/>
                  </a:lnTo>
                  <a:lnTo>
                    <a:pt x="5122512" y="66328"/>
                  </a:lnTo>
                  <a:lnTo>
                    <a:pt x="5078968" y="50745"/>
                  </a:lnTo>
                  <a:lnTo>
                    <a:pt x="5069585" y="50291"/>
                  </a:lnTo>
                  <a:lnTo>
                    <a:pt x="5224271" y="50291"/>
                  </a:lnTo>
                  <a:lnTo>
                    <a:pt x="5224271" y="176479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581774" y="6581774"/>
              <a:ext cx="5124450" cy="1733550"/>
            </a:xfrm>
            <a:custGeom>
              <a:avLst/>
              <a:gdLst/>
              <a:ahLst/>
              <a:cxnLst/>
              <a:rect l="l" t="t" r="r" b="b"/>
              <a:pathLst>
                <a:path w="5124450" h="1733550">
                  <a:moveTo>
                    <a:pt x="5026553" y="1733549"/>
                  </a:moveTo>
                  <a:lnTo>
                    <a:pt x="97895" y="1733549"/>
                  </a:lnTo>
                  <a:lnTo>
                    <a:pt x="91081" y="1732878"/>
                  </a:lnTo>
                  <a:lnTo>
                    <a:pt x="52284" y="1719713"/>
                  </a:lnTo>
                  <a:lnTo>
                    <a:pt x="21479" y="1692703"/>
                  </a:lnTo>
                  <a:lnTo>
                    <a:pt x="3355" y="1655962"/>
                  </a:lnTo>
                  <a:lnTo>
                    <a:pt x="0" y="1635654"/>
                  </a:lnTo>
                  <a:lnTo>
                    <a:pt x="0" y="1628774"/>
                  </a:lnTo>
                  <a:lnTo>
                    <a:pt x="0" y="97895"/>
                  </a:lnTo>
                  <a:lnTo>
                    <a:pt x="10607" y="58322"/>
                  </a:lnTo>
                  <a:lnTo>
                    <a:pt x="35552" y="25823"/>
                  </a:lnTo>
                  <a:lnTo>
                    <a:pt x="71034" y="5342"/>
                  </a:lnTo>
                  <a:lnTo>
                    <a:pt x="97895" y="0"/>
                  </a:lnTo>
                  <a:lnTo>
                    <a:pt x="5026553" y="0"/>
                  </a:lnTo>
                  <a:lnTo>
                    <a:pt x="5066125" y="10607"/>
                  </a:lnTo>
                  <a:lnTo>
                    <a:pt x="5098624" y="35552"/>
                  </a:lnTo>
                  <a:lnTo>
                    <a:pt x="5119104" y="71034"/>
                  </a:lnTo>
                  <a:lnTo>
                    <a:pt x="5124448" y="97895"/>
                  </a:lnTo>
                  <a:lnTo>
                    <a:pt x="5124448" y="1635654"/>
                  </a:lnTo>
                  <a:lnTo>
                    <a:pt x="5113839" y="1675225"/>
                  </a:lnTo>
                  <a:lnTo>
                    <a:pt x="5088897" y="1707725"/>
                  </a:lnTo>
                  <a:lnTo>
                    <a:pt x="5053412" y="1728206"/>
                  </a:lnTo>
                  <a:lnTo>
                    <a:pt x="5033366" y="1732878"/>
                  </a:lnTo>
                  <a:lnTo>
                    <a:pt x="5026553" y="1733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581774" y="6581774"/>
              <a:ext cx="5124450" cy="1733550"/>
            </a:xfrm>
            <a:custGeom>
              <a:avLst/>
              <a:gdLst/>
              <a:ahLst/>
              <a:cxnLst/>
              <a:rect l="l" t="t" r="r" b="b"/>
              <a:pathLst>
                <a:path w="5124450" h="1733550">
                  <a:moveTo>
                    <a:pt x="0" y="16287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0" y="91081"/>
                  </a:lnTo>
                  <a:lnTo>
                    <a:pt x="2012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7" y="58322"/>
                  </a:lnTo>
                  <a:lnTo>
                    <a:pt x="35552" y="25823"/>
                  </a:lnTo>
                  <a:lnTo>
                    <a:pt x="71034" y="5342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5019674" y="0"/>
                  </a:lnTo>
                  <a:lnTo>
                    <a:pt x="5026553" y="0"/>
                  </a:lnTo>
                  <a:lnTo>
                    <a:pt x="5033366" y="670"/>
                  </a:lnTo>
                  <a:lnTo>
                    <a:pt x="5072163" y="13835"/>
                  </a:lnTo>
                  <a:lnTo>
                    <a:pt x="5077882" y="17657"/>
                  </a:lnTo>
                  <a:lnTo>
                    <a:pt x="5083604" y="21479"/>
                  </a:lnTo>
                  <a:lnTo>
                    <a:pt x="5106790" y="46564"/>
                  </a:lnTo>
                  <a:lnTo>
                    <a:pt x="5110612" y="52284"/>
                  </a:lnTo>
                  <a:lnTo>
                    <a:pt x="5123776" y="91081"/>
                  </a:lnTo>
                  <a:lnTo>
                    <a:pt x="5124449" y="104774"/>
                  </a:lnTo>
                  <a:lnTo>
                    <a:pt x="5124449" y="1628774"/>
                  </a:lnTo>
                  <a:lnTo>
                    <a:pt x="5116472" y="1668869"/>
                  </a:lnTo>
                  <a:lnTo>
                    <a:pt x="5106790" y="1686983"/>
                  </a:lnTo>
                  <a:lnTo>
                    <a:pt x="5102968" y="1692703"/>
                  </a:lnTo>
                  <a:lnTo>
                    <a:pt x="5077883" y="1715891"/>
                  </a:lnTo>
                  <a:lnTo>
                    <a:pt x="5072163" y="1719713"/>
                  </a:lnTo>
                  <a:lnTo>
                    <a:pt x="5033366" y="1732878"/>
                  </a:lnTo>
                  <a:lnTo>
                    <a:pt x="5026553" y="1733549"/>
                  </a:lnTo>
                  <a:lnTo>
                    <a:pt x="5019674" y="1733549"/>
                  </a:lnTo>
                  <a:lnTo>
                    <a:pt x="104774" y="1733549"/>
                  </a:lnTo>
                  <a:lnTo>
                    <a:pt x="97895" y="1733549"/>
                  </a:lnTo>
                  <a:lnTo>
                    <a:pt x="91081" y="1732878"/>
                  </a:lnTo>
                  <a:lnTo>
                    <a:pt x="52284" y="1719713"/>
                  </a:lnTo>
                  <a:lnTo>
                    <a:pt x="46564" y="1715891"/>
                  </a:lnTo>
                  <a:lnTo>
                    <a:pt x="40844" y="1712068"/>
                  </a:lnTo>
                  <a:lnTo>
                    <a:pt x="13835" y="1681263"/>
                  </a:lnTo>
                  <a:lnTo>
                    <a:pt x="670" y="1642467"/>
                  </a:lnTo>
                  <a:lnTo>
                    <a:pt x="0" y="1635654"/>
                  </a:lnTo>
                  <a:lnTo>
                    <a:pt x="0" y="1628774"/>
                  </a:lnTo>
                  <a:close/>
                </a:path>
              </a:pathLst>
            </a:custGeom>
            <a:ln w="19049">
              <a:solidFill>
                <a:srgbClr val="F2F4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978477" y="6932586"/>
            <a:ext cx="2305685" cy="13823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0"/>
              </a:spcBef>
            </a:pPr>
            <a:r>
              <a:rPr sz="1900" b="1" spc="170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VALIDATION</a:t>
            </a:r>
            <a:r>
              <a:rPr sz="1900" b="1" spc="270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spc="-25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SET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24765" algn="ctr">
              <a:lnSpc>
                <a:spcPts val="4700"/>
              </a:lnSpc>
              <a:spcBef>
                <a:spcPts val="870"/>
              </a:spcBef>
            </a:pPr>
            <a:r>
              <a:rPr sz="4000" b="1" spc="-20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10K+</a:t>
            </a:r>
            <a:endParaRPr sz="4000">
              <a:latin typeface="Arial" panose="020B0604020202020204"/>
              <a:cs typeface="Arial" panose="020B0604020202020204"/>
            </a:endParaRPr>
          </a:p>
          <a:p>
            <a:pPr marL="26670" algn="ctr">
              <a:lnSpc>
                <a:spcPts val="2420"/>
              </a:lnSpc>
            </a:pPr>
            <a:r>
              <a:rPr sz="2100" spc="-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pairs</a:t>
            </a:r>
            <a:endParaRPr sz="21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076175" y="6541007"/>
            <a:ext cx="5166360" cy="1831975"/>
            <a:chOff x="12076175" y="6541007"/>
            <a:chExt cx="5166360" cy="1831975"/>
          </a:xfrm>
        </p:grpSpPr>
        <p:sp>
          <p:nvSpPr>
            <p:cNvPr id="29" name="object 29"/>
            <p:cNvSpPr/>
            <p:nvPr/>
          </p:nvSpPr>
          <p:spPr>
            <a:xfrm>
              <a:off x="12076175" y="6541007"/>
              <a:ext cx="5166360" cy="1831975"/>
            </a:xfrm>
            <a:custGeom>
              <a:avLst/>
              <a:gdLst/>
              <a:ahLst/>
              <a:cxnLst/>
              <a:rect l="l" t="t" r="r" b="b"/>
              <a:pathLst>
                <a:path w="5166359" h="1831975">
                  <a:moveTo>
                    <a:pt x="5166359" y="1831847"/>
                  </a:moveTo>
                  <a:lnTo>
                    <a:pt x="0" y="1831847"/>
                  </a:lnTo>
                  <a:lnTo>
                    <a:pt x="0" y="0"/>
                  </a:lnTo>
                  <a:lnTo>
                    <a:pt x="5166359" y="0"/>
                  </a:lnTo>
                  <a:lnTo>
                    <a:pt x="5166359" y="50291"/>
                  </a:lnTo>
                  <a:lnTo>
                    <a:pt x="153923" y="50291"/>
                  </a:lnTo>
                  <a:lnTo>
                    <a:pt x="144540" y="50745"/>
                  </a:lnTo>
                  <a:lnTo>
                    <a:pt x="100995" y="66328"/>
                  </a:lnTo>
                  <a:lnTo>
                    <a:pt x="69932" y="100595"/>
                  </a:lnTo>
                  <a:lnTo>
                    <a:pt x="58673" y="145541"/>
                  </a:lnTo>
                  <a:lnTo>
                    <a:pt x="58673" y="1669541"/>
                  </a:lnTo>
                  <a:lnTo>
                    <a:pt x="69932" y="1714487"/>
                  </a:lnTo>
                  <a:lnTo>
                    <a:pt x="100995" y="1748753"/>
                  </a:lnTo>
                  <a:lnTo>
                    <a:pt x="144540" y="1764338"/>
                  </a:lnTo>
                  <a:lnTo>
                    <a:pt x="153923" y="1764791"/>
                  </a:lnTo>
                  <a:lnTo>
                    <a:pt x="5166359" y="1764791"/>
                  </a:lnTo>
                  <a:lnTo>
                    <a:pt x="5166359" y="1831847"/>
                  </a:lnTo>
                  <a:close/>
                </a:path>
                <a:path w="5166359" h="1831975">
                  <a:moveTo>
                    <a:pt x="5166359" y="1764791"/>
                  </a:moveTo>
                  <a:lnTo>
                    <a:pt x="5011673" y="1764791"/>
                  </a:lnTo>
                  <a:lnTo>
                    <a:pt x="5021056" y="1764338"/>
                  </a:lnTo>
                  <a:lnTo>
                    <a:pt x="5030259" y="1762978"/>
                  </a:lnTo>
                  <a:lnTo>
                    <a:pt x="5072068" y="1743207"/>
                  </a:lnTo>
                  <a:lnTo>
                    <a:pt x="5099671" y="1705992"/>
                  </a:lnTo>
                  <a:lnTo>
                    <a:pt x="5106923" y="1669541"/>
                  </a:lnTo>
                  <a:lnTo>
                    <a:pt x="5106923" y="145541"/>
                  </a:lnTo>
                  <a:lnTo>
                    <a:pt x="5095661" y="100595"/>
                  </a:lnTo>
                  <a:lnTo>
                    <a:pt x="5064599" y="66328"/>
                  </a:lnTo>
                  <a:lnTo>
                    <a:pt x="5021056" y="50745"/>
                  </a:lnTo>
                  <a:lnTo>
                    <a:pt x="5011673" y="50291"/>
                  </a:lnTo>
                  <a:lnTo>
                    <a:pt x="5166359" y="50291"/>
                  </a:lnTo>
                  <a:lnTo>
                    <a:pt x="5166359" y="176479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2125322" y="6581774"/>
              <a:ext cx="5067300" cy="1733550"/>
            </a:xfrm>
            <a:custGeom>
              <a:avLst/>
              <a:gdLst/>
              <a:ahLst/>
              <a:cxnLst/>
              <a:rect l="l" t="t" r="r" b="b"/>
              <a:pathLst>
                <a:path w="5067300" h="1733550">
                  <a:moveTo>
                    <a:pt x="4969405" y="1733549"/>
                  </a:moveTo>
                  <a:lnTo>
                    <a:pt x="97896" y="1733549"/>
                  </a:lnTo>
                  <a:lnTo>
                    <a:pt x="91081" y="1732878"/>
                  </a:lnTo>
                  <a:lnTo>
                    <a:pt x="52285" y="1719713"/>
                  </a:lnTo>
                  <a:lnTo>
                    <a:pt x="21480" y="1692703"/>
                  </a:lnTo>
                  <a:lnTo>
                    <a:pt x="3355" y="1655962"/>
                  </a:lnTo>
                  <a:lnTo>
                    <a:pt x="0" y="1635654"/>
                  </a:lnTo>
                  <a:lnTo>
                    <a:pt x="1" y="1628774"/>
                  </a:lnTo>
                  <a:lnTo>
                    <a:pt x="0" y="97895"/>
                  </a:lnTo>
                  <a:lnTo>
                    <a:pt x="10607" y="58322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6" y="0"/>
                  </a:lnTo>
                  <a:lnTo>
                    <a:pt x="4969405" y="0"/>
                  </a:lnTo>
                  <a:lnTo>
                    <a:pt x="5008975" y="10607"/>
                  </a:lnTo>
                  <a:lnTo>
                    <a:pt x="5041474" y="35552"/>
                  </a:lnTo>
                  <a:lnTo>
                    <a:pt x="5061956" y="71034"/>
                  </a:lnTo>
                  <a:lnTo>
                    <a:pt x="5067300" y="97895"/>
                  </a:lnTo>
                  <a:lnTo>
                    <a:pt x="5067300" y="1635654"/>
                  </a:lnTo>
                  <a:lnTo>
                    <a:pt x="5056689" y="1675225"/>
                  </a:lnTo>
                  <a:lnTo>
                    <a:pt x="5031747" y="1707725"/>
                  </a:lnTo>
                  <a:lnTo>
                    <a:pt x="4996262" y="1728206"/>
                  </a:lnTo>
                  <a:lnTo>
                    <a:pt x="4976217" y="1732878"/>
                  </a:lnTo>
                  <a:lnTo>
                    <a:pt x="4969405" y="1733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2125322" y="6581774"/>
              <a:ext cx="5067300" cy="1733550"/>
            </a:xfrm>
            <a:custGeom>
              <a:avLst/>
              <a:gdLst/>
              <a:ahLst/>
              <a:cxnLst/>
              <a:rect l="l" t="t" r="r" b="b"/>
              <a:pathLst>
                <a:path w="5067300" h="1733550">
                  <a:moveTo>
                    <a:pt x="1" y="1628774"/>
                  </a:moveTo>
                  <a:lnTo>
                    <a:pt x="1" y="104774"/>
                  </a:lnTo>
                  <a:lnTo>
                    <a:pt x="0" y="97895"/>
                  </a:lnTo>
                  <a:lnTo>
                    <a:pt x="670" y="91081"/>
                  </a:lnTo>
                  <a:lnTo>
                    <a:pt x="2012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7" y="58322"/>
                  </a:lnTo>
                  <a:lnTo>
                    <a:pt x="30688" y="30687"/>
                  </a:lnTo>
                  <a:lnTo>
                    <a:pt x="35552" y="25823"/>
                  </a:lnTo>
                  <a:lnTo>
                    <a:pt x="40845" y="21479"/>
                  </a:lnTo>
                  <a:lnTo>
                    <a:pt x="46565" y="17657"/>
                  </a:lnTo>
                  <a:lnTo>
                    <a:pt x="52285" y="13835"/>
                  </a:lnTo>
                  <a:lnTo>
                    <a:pt x="91081" y="670"/>
                  </a:lnTo>
                  <a:lnTo>
                    <a:pt x="97896" y="0"/>
                  </a:lnTo>
                  <a:lnTo>
                    <a:pt x="104776" y="0"/>
                  </a:lnTo>
                  <a:lnTo>
                    <a:pt x="4962525" y="0"/>
                  </a:lnTo>
                  <a:lnTo>
                    <a:pt x="4969405" y="0"/>
                  </a:lnTo>
                  <a:lnTo>
                    <a:pt x="4976217" y="670"/>
                  </a:lnTo>
                  <a:lnTo>
                    <a:pt x="5015013" y="13835"/>
                  </a:lnTo>
                  <a:lnTo>
                    <a:pt x="5045818" y="40844"/>
                  </a:lnTo>
                  <a:lnTo>
                    <a:pt x="5063943" y="77586"/>
                  </a:lnTo>
                  <a:lnTo>
                    <a:pt x="5067300" y="97895"/>
                  </a:lnTo>
                  <a:lnTo>
                    <a:pt x="5067300" y="104774"/>
                  </a:lnTo>
                  <a:lnTo>
                    <a:pt x="5067300" y="1628774"/>
                  </a:lnTo>
                  <a:lnTo>
                    <a:pt x="5067300" y="1635654"/>
                  </a:lnTo>
                  <a:lnTo>
                    <a:pt x="5066629" y="1642467"/>
                  </a:lnTo>
                  <a:lnTo>
                    <a:pt x="5053462" y="1681263"/>
                  </a:lnTo>
                  <a:lnTo>
                    <a:pt x="5026454" y="1712068"/>
                  </a:lnTo>
                  <a:lnTo>
                    <a:pt x="5020732" y="1715891"/>
                  </a:lnTo>
                  <a:lnTo>
                    <a:pt x="5015013" y="1719713"/>
                  </a:lnTo>
                  <a:lnTo>
                    <a:pt x="4976217" y="1732878"/>
                  </a:lnTo>
                  <a:lnTo>
                    <a:pt x="4969405" y="1733549"/>
                  </a:lnTo>
                  <a:lnTo>
                    <a:pt x="4962525" y="1733549"/>
                  </a:lnTo>
                  <a:lnTo>
                    <a:pt x="104776" y="1733549"/>
                  </a:lnTo>
                  <a:lnTo>
                    <a:pt x="97896" y="1733549"/>
                  </a:lnTo>
                  <a:lnTo>
                    <a:pt x="91081" y="1732878"/>
                  </a:lnTo>
                  <a:lnTo>
                    <a:pt x="52285" y="1719713"/>
                  </a:lnTo>
                  <a:lnTo>
                    <a:pt x="30688" y="1702861"/>
                  </a:lnTo>
                  <a:lnTo>
                    <a:pt x="25823" y="1697996"/>
                  </a:lnTo>
                  <a:lnTo>
                    <a:pt x="5342" y="1662513"/>
                  </a:lnTo>
                  <a:lnTo>
                    <a:pt x="0" y="1635654"/>
                  </a:lnTo>
                  <a:lnTo>
                    <a:pt x="1" y="1628774"/>
                  </a:lnTo>
                  <a:close/>
                </a:path>
              </a:pathLst>
            </a:custGeom>
            <a:ln w="19049">
              <a:solidFill>
                <a:srgbClr val="F2F4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4017029" y="6932586"/>
            <a:ext cx="1242695" cy="13823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0"/>
              </a:spcBef>
            </a:pPr>
            <a:r>
              <a:rPr sz="1900" b="1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TEST</a:t>
            </a:r>
            <a:r>
              <a:rPr sz="1900" b="1" spc="420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spc="-25" dirty="0">
                <a:solidFill>
                  <a:srgbClr val="6A7280"/>
                </a:solidFill>
                <a:latin typeface="Arial" panose="020B0604020202020204"/>
                <a:cs typeface="Arial" panose="020B0604020202020204"/>
              </a:rPr>
              <a:t>SET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21590" algn="ctr">
              <a:lnSpc>
                <a:spcPts val="4700"/>
              </a:lnSpc>
              <a:spcBef>
                <a:spcPts val="870"/>
              </a:spcBef>
            </a:pPr>
            <a:r>
              <a:rPr sz="4000" b="1" spc="-35" dirty="0">
                <a:solidFill>
                  <a:srgbClr val="1D40AF"/>
                </a:solidFill>
                <a:latin typeface="Arial" panose="020B0604020202020204"/>
                <a:cs typeface="Arial" panose="020B0604020202020204"/>
              </a:rPr>
              <a:t>10K+</a:t>
            </a:r>
            <a:endParaRPr sz="4000">
              <a:latin typeface="Arial" panose="020B0604020202020204"/>
              <a:cs typeface="Arial" panose="020B0604020202020204"/>
            </a:endParaRPr>
          </a:p>
          <a:p>
            <a:pPr marL="22860" algn="ctr">
              <a:lnSpc>
                <a:spcPts val="2420"/>
              </a:lnSpc>
            </a:pPr>
            <a:r>
              <a:rPr sz="2100" spc="-10" dirty="0">
                <a:solidFill>
                  <a:srgbClr val="9CA2AF"/>
                </a:solidFill>
                <a:latin typeface="Microsoft Sans Serif" panose="020B0604020202020204"/>
                <a:cs typeface="Microsoft Sans Serif" panose="020B0604020202020204"/>
              </a:rPr>
              <a:t>pairs</a:t>
            </a:r>
            <a:endParaRPr sz="21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163" y="627380"/>
            <a:ext cx="64992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2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15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50" b="1" spc="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5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27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114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50" b="1" spc="-17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150" b="1" spc="-165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b="1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G</a:t>
            </a:r>
            <a:endParaRPr sz="2150" b="1" spc="-5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18733" y="1104963"/>
            <a:ext cx="15864840" cy="86868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ts val="6750"/>
              </a:lnSpc>
              <a:spcBef>
                <a:spcPts val="25"/>
              </a:spcBef>
            </a:pPr>
            <a:r>
              <a:rPr sz="4800" spc="434" dirty="0">
                <a:solidFill>
                  <a:schemeClr val="tx1"/>
                </a:solidFill>
              </a:rPr>
              <a:t>Data</a:t>
            </a:r>
            <a:r>
              <a:rPr sz="4800" spc="-350" dirty="0">
                <a:solidFill>
                  <a:schemeClr val="tx1"/>
                </a:solidFill>
              </a:rPr>
              <a:t> </a:t>
            </a:r>
            <a:r>
              <a:rPr sz="4800" spc="155" dirty="0">
                <a:solidFill>
                  <a:schemeClr val="tx1"/>
                </a:solidFill>
              </a:rPr>
              <a:t>Engineering:</a:t>
            </a:r>
            <a:r>
              <a:rPr sz="4800" spc="-345" dirty="0">
                <a:solidFill>
                  <a:schemeClr val="tx1"/>
                </a:solidFill>
              </a:rPr>
              <a:t> </a:t>
            </a:r>
            <a:r>
              <a:rPr sz="4800" spc="195" dirty="0">
                <a:solidFill>
                  <a:schemeClr val="tx1"/>
                </a:solidFill>
              </a:rPr>
              <a:t>The</a:t>
            </a:r>
            <a:r>
              <a:rPr sz="4800" spc="-345" dirty="0">
                <a:solidFill>
                  <a:schemeClr val="tx1"/>
                </a:solidFill>
              </a:rPr>
              <a:t> </a:t>
            </a:r>
            <a:r>
              <a:rPr sz="4800" spc="170" dirty="0">
                <a:solidFill>
                  <a:schemeClr val="tx1"/>
                </a:solidFill>
              </a:rPr>
              <a:t>Real</a:t>
            </a:r>
            <a:r>
              <a:rPr sz="4800" spc="-345" dirty="0">
                <a:solidFill>
                  <a:schemeClr val="tx1"/>
                </a:solidFill>
              </a:rPr>
              <a:t> </a:t>
            </a:r>
            <a:r>
              <a:rPr sz="4800" spc="130" dirty="0">
                <a:solidFill>
                  <a:schemeClr val="tx1"/>
                </a:solidFill>
              </a:rPr>
              <a:t>Engine</a:t>
            </a:r>
            <a:r>
              <a:rPr sz="4800" spc="-345" dirty="0">
                <a:solidFill>
                  <a:schemeClr val="tx1"/>
                </a:solidFill>
              </a:rPr>
              <a:t> </a:t>
            </a:r>
            <a:r>
              <a:rPr sz="4800" spc="135" dirty="0">
                <a:solidFill>
                  <a:schemeClr val="tx1"/>
                </a:solidFill>
              </a:rPr>
              <a:t>of</a:t>
            </a:r>
            <a:r>
              <a:rPr sz="4800" spc="-345" dirty="0">
                <a:solidFill>
                  <a:schemeClr val="tx1"/>
                </a:solidFill>
              </a:rPr>
              <a:t> </a:t>
            </a:r>
            <a:r>
              <a:rPr sz="4800" spc="295" dirty="0">
                <a:solidFill>
                  <a:schemeClr val="tx1"/>
                </a:solidFill>
              </a:rPr>
              <a:t>Modern </a:t>
            </a:r>
            <a:r>
              <a:rPr sz="4800" spc="55" dirty="0">
                <a:solidFill>
                  <a:schemeClr val="tx1"/>
                </a:solidFill>
              </a:rPr>
              <a:t>AI</a:t>
            </a:r>
            <a:endParaRPr sz="4800" spc="55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0358" y="2552628"/>
            <a:ext cx="15041244" cy="146812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50" b="1" spc="1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850" b="1" spc="-1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2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80/20</a:t>
            </a:r>
            <a:r>
              <a:rPr sz="2850" b="1" spc="-1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3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Practice</a:t>
            </a:r>
            <a:r>
              <a:rPr sz="2850" b="1" spc="-1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3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Rule</a:t>
            </a:r>
            <a:endParaRPr sz="285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ts val="3750"/>
              </a:lnSpc>
            </a:pPr>
            <a:r>
              <a:rPr sz="245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80%</a:t>
            </a:r>
            <a:r>
              <a:rPr sz="2450" spc="-2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450" spc="-2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machine</a:t>
            </a:r>
            <a:r>
              <a:rPr sz="24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4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success</a:t>
            </a:r>
            <a:r>
              <a:rPr sz="24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lies</a:t>
            </a:r>
            <a:r>
              <a:rPr sz="24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24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pipeline</a:t>
            </a:r>
            <a:r>
              <a:rPr sz="24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engineering.</a:t>
            </a:r>
            <a:r>
              <a:rPr sz="2450" spc="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Only</a:t>
            </a:r>
            <a:r>
              <a:rPr sz="2450" spc="-2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20%</a:t>
            </a:r>
            <a:r>
              <a:rPr sz="2450" spc="-2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lies</a:t>
            </a:r>
            <a:r>
              <a:rPr sz="24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hyperparameter</a:t>
            </a:r>
            <a:r>
              <a:rPr sz="24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tuning.</a:t>
            </a:r>
            <a:r>
              <a:rPr sz="2450" spc="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Anyone </a:t>
            </a:r>
            <a:r>
              <a:rPr sz="245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can </a:t>
            </a:r>
            <a:r>
              <a:rPr sz="24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download</a:t>
            </a:r>
            <a:r>
              <a:rPr sz="24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Transformer</a:t>
            </a:r>
            <a:r>
              <a:rPr sz="2450" spc="-2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4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2450" spc="-2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5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real</a:t>
            </a:r>
            <a:r>
              <a:rPr sz="24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engineering</a:t>
            </a:r>
            <a:r>
              <a:rPr sz="2450" spc="-229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5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data.</a:t>
            </a:r>
            <a:endParaRPr sz="2450" spc="-1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6558" y="4762428"/>
            <a:ext cx="15337155" cy="146812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50" b="1" spc="17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Low-</a:t>
            </a:r>
            <a:r>
              <a:rPr sz="2850" b="1" spc="8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Resource</a:t>
            </a:r>
            <a:r>
              <a:rPr sz="2850" b="1" spc="-15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Language</a:t>
            </a:r>
            <a:r>
              <a:rPr sz="2850" b="1" spc="-15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7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Adaptability</a:t>
            </a:r>
            <a:endParaRPr sz="285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Developing</a:t>
            </a:r>
            <a:r>
              <a:rPr sz="24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custom</a:t>
            </a:r>
            <a:r>
              <a:rPr sz="24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cleaning</a:t>
            </a:r>
            <a:r>
              <a:rPr sz="24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8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pipelines</a:t>
            </a:r>
            <a:r>
              <a:rPr sz="24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mandatory</a:t>
            </a:r>
            <a:r>
              <a:rPr sz="24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when</a:t>
            </a:r>
            <a:r>
              <a:rPr sz="2450" spc="-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handling</a:t>
            </a:r>
            <a:r>
              <a:rPr sz="2450" spc="-2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under-</a:t>
            </a:r>
            <a:r>
              <a:rPr sz="24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digitized</a:t>
            </a:r>
            <a:r>
              <a:rPr sz="24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languages</a:t>
            </a:r>
            <a:r>
              <a:rPr sz="24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like</a:t>
            </a:r>
            <a:r>
              <a:rPr sz="2450" spc="-1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Amharic</a:t>
            </a:r>
            <a:r>
              <a:rPr sz="2450" spc="-1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where</a:t>
            </a:r>
            <a:r>
              <a:rPr sz="24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no</a:t>
            </a:r>
            <a:r>
              <a:rPr sz="24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pre-</a:t>
            </a:r>
            <a:endParaRPr sz="24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existing</a:t>
            </a:r>
            <a:r>
              <a:rPr sz="2450" spc="-1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standard</a:t>
            </a:r>
            <a:r>
              <a:rPr sz="24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dataset</a:t>
            </a:r>
            <a:r>
              <a:rPr sz="2450" spc="-16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exists.</a:t>
            </a:r>
            <a:endParaRPr sz="2450" spc="-1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42268" y="7124628"/>
            <a:ext cx="14945360" cy="146812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50" b="1" spc="114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Direct</a:t>
            </a:r>
            <a:r>
              <a:rPr sz="2850" b="1" spc="-18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24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Impact</a:t>
            </a:r>
            <a:r>
              <a:rPr sz="2850" b="1" spc="-1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3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850" b="1" spc="-18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5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Model</a:t>
            </a:r>
            <a:r>
              <a:rPr sz="2850" b="1" spc="-17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50" b="1" spc="15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Performance</a:t>
            </a:r>
            <a:endParaRPr sz="285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This</a:t>
            </a:r>
            <a:r>
              <a:rPr sz="24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preprocessing</a:t>
            </a:r>
            <a:r>
              <a:rPr sz="24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pipeline</a:t>
            </a:r>
            <a:r>
              <a:rPr sz="24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directly</a:t>
            </a:r>
            <a:r>
              <a:rPr sz="24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resolved</a:t>
            </a:r>
            <a:r>
              <a:rPr sz="24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initial</a:t>
            </a:r>
            <a:r>
              <a:rPr sz="24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24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8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loop’s</a:t>
            </a:r>
            <a:r>
              <a:rPr sz="24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degenerate</a:t>
            </a:r>
            <a:r>
              <a:rPr sz="2450" spc="-14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output,</a:t>
            </a:r>
            <a:r>
              <a:rPr sz="24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6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resulting</a:t>
            </a:r>
            <a:r>
              <a:rPr sz="24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3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successful</a:t>
            </a:r>
            <a:r>
              <a:rPr sz="2450" spc="-7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loss</a:t>
            </a:r>
            <a:endParaRPr sz="245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drop</a:t>
            </a:r>
            <a:r>
              <a:rPr sz="2450" spc="-12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450" spc="-12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&lt;b&gt;2.96&lt;/b&gt;</a:t>
            </a:r>
            <a:r>
              <a:rPr sz="2450" spc="-15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450" spc="-3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4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5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4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functioning</a:t>
            </a:r>
            <a:r>
              <a:rPr sz="2450" spc="-215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rPr>
              <a:t>translator.</a:t>
            </a:r>
            <a:endParaRPr sz="2450" spc="-10" dirty="0">
              <a:solidFill>
                <a:schemeClr val="tx1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10229849"/>
            <a:ext cx="18288000" cy="57150"/>
          </a:xfrm>
          <a:custGeom>
            <a:avLst/>
            <a:gdLst/>
            <a:ahLst/>
            <a:cxnLst/>
            <a:rect l="l" t="t" r="r" b="b"/>
            <a:pathLst>
              <a:path w="18288000" h="57150">
                <a:moveTo>
                  <a:pt x="18287998" y="57149"/>
                </a:moveTo>
                <a:lnTo>
                  <a:pt x="0" y="571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57149"/>
                </a:lnTo>
                <a:close/>
              </a:path>
            </a:pathLst>
          </a:custGeom>
          <a:solidFill>
            <a:srgbClr val="1D40AF">
              <a:alpha val="19999"/>
            </a:srgbClr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965200" y="2705100"/>
            <a:ext cx="609600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1" name="Right Arrow 20"/>
          <p:cNvSpPr/>
          <p:nvPr/>
        </p:nvSpPr>
        <p:spPr>
          <a:xfrm>
            <a:off x="965200" y="4914900"/>
            <a:ext cx="609600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2" name="Right Arrow 21"/>
          <p:cNvSpPr/>
          <p:nvPr/>
        </p:nvSpPr>
        <p:spPr>
          <a:xfrm>
            <a:off x="965200" y="7353300"/>
            <a:ext cx="609600" cy="304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8655</Words>
  <Application>WPS Presentation</Application>
  <PresentationFormat>On-screen Show (4:3)</PresentationFormat>
  <Paragraphs>269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SimSun</vt:lpstr>
      <vt:lpstr>Wingdings</vt:lpstr>
      <vt:lpstr>Arial</vt:lpstr>
      <vt:lpstr>Microsoft Sans Serif</vt:lpstr>
      <vt:lpstr>Microsoft YaHei</vt:lpstr>
      <vt:lpstr>Arial Unicode MS</vt:lpstr>
      <vt:lpstr>Calibri</vt:lpstr>
      <vt:lpstr>Times New Roman</vt:lpstr>
      <vt:lpstr>Ebrima</vt:lpstr>
      <vt:lpstr>Office Theme</vt:lpstr>
      <vt:lpstr>Amharic–English Neural Machine Translation</vt:lpstr>
      <vt:lpstr>Project Roadmap &amp; Milestones</vt:lpstr>
      <vt:lpstr>The Ultimate Goal</vt:lpstr>
      <vt:lpstr>Gathering the Building Blocks</vt:lpstr>
      <vt:lpstr>Where Did the Data Come From?</vt:lpstr>
      <vt:lpstr>PowerPoint 演示文稿</vt:lpstr>
      <vt:lpstr>Colloquial Datasets</vt:lpstr>
      <vt:lpstr>News Articles</vt:lpstr>
      <vt:lpstr>Web-Scraped Data</vt:lpstr>
      <vt:lpstr>Local &amp; Creative Sources</vt:lpstr>
      <vt:lpstr>PowerPoint 演示文稿</vt:lpstr>
      <vt:lpstr>PowerPoint 演示文稿</vt:lpstr>
      <vt:lpstr>Core Preprocessing Philosophy &amp; Goals</vt:lpstr>
      <vt:lpstr>The Merging Pipeline: Aggregating 4 Parallel Corpora</vt:lpstr>
      <vt:lpstr>Pass 1: Eliminating Structural &amp; Subtitle Noise</vt:lpstr>
      <vt:lpstr>Pass 2: Language Purification &amp; Noise Stripping</vt:lpstr>
      <vt:lpstr>Normalizing Orthographic Conventions</vt:lpstr>
      <vt:lpstr>Sequence Length Controls for Training Stability</vt:lpstr>
      <vt:lpstr>Split Layout: 95% Training · 2.5% Validation · 2.5% Testing</vt:lpstr>
      <vt:lpstr>Subword Tokenization via Byte-Pair Encoding</vt:lpstr>
      <vt:lpstr>Preprocessing Pipeline Metrics &amp; Efficacy</vt:lpstr>
      <vt:lpstr>Data Engineering: The Real Engine of Modern AI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Amharic–English Neural Machine Translation</dc:title>
  <dc:creator/>
  <cp:lastModifiedBy>DELL</cp:lastModifiedBy>
  <cp:revision>3</cp:revision>
  <dcterms:created xsi:type="dcterms:W3CDTF">2026-07-20T14:48:00Z</dcterms:created>
  <dcterms:modified xsi:type="dcterms:W3CDTF">2026-07-22T07:17:48Z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2026-07-19T06:00:00Z</vt:filetime>
  </property>
  <property fmtid="{D5CDD505-2E9C-101B-9397-08002B2CF9AE}" pid="4" name="Creator">
    <vt:lpwstr>Mozilla/5.0 (X11; Linux x86_64) AppleWebKit/537.36 (KHTML, like Gecko) HeadlessChrome/140.0.0.0 Safari/537.36</vt:lpwstr>
  </property>
  <property fmtid="{D5CDD505-2E9C-101B-9397-08002B2CF9AE}" pid="5" name="LastSaved">
    <vt:filetime>2026-07-20T06:00:00Z</vt:filetime>
  </property>
  <property fmtid="{D5CDD505-2E9C-101B-9397-08002B2CF9AE}" pid="6" name="Producer">
    <vt:lpwstr>Skia/PDF m140</vt:lpwstr>
  </property>
  <property fmtid="{D5CDD505-2E9C-101B-9397-08002B2CF9AE}" pid="7" name="ICV">
    <vt:lpwstr>AF72D38E9C364118B3E51946BF7474F9_13</vt:lpwstr>
  </property>
  <property fmtid="{D5CDD505-2E9C-101B-9397-08002B2CF9AE}" pid="8" name="KSOProductBuildVer">
    <vt:lpwstr>2057-12.2.0.23206</vt:lpwstr>
  </property>
</Properties>
</file>