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sv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0" Type="http://schemas.openxmlformats.org/officeDocument/2006/relationships/notesSlide" Target="../notesSlides/notesSlide13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1458828" y="957337"/>
            <a:ext cx="6226344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43400" y="1275420"/>
            <a:ext cx="457200" cy="1428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643615" y="1411188"/>
            <a:ext cx="7856771" cy="6143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3460" b="1" kern="0" spc="-86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Breaking Language Barriers</a:t>
            </a:r>
            <a:endParaRPr lang="en-US" sz="3460" dirty="0"/>
          </a:p>
        </p:txBody>
      </p:sp>
      <p:sp>
        <p:nvSpPr>
          <p:cNvPr id="7" name="Text 5"/>
          <p:cNvSpPr/>
          <p:nvPr/>
        </p:nvSpPr>
        <p:spPr>
          <a:xfrm>
            <a:off x="991486" y="2105471"/>
            <a:ext cx="7161029" cy="3286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215"/>
              </a:spcAft>
              <a:buNone/>
            </a:pPr>
            <a:r>
              <a:rPr lang="en-US" sz="187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Amharic–English Neural Machine Translation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2463165" y="2611562"/>
            <a:ext cx="421767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620"/>
              </a:spcAft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Collection &amp; Preprocessing Milestone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3380493" y="3096369"/>
            <a:ext cx="892872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B7C2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ሰላም</a:t>
            </a:r>
            <a:endParaRPr lang="en-US" sz="2520" dirty="0"/>
          </a:p>
        </p:txBody>
      </p:sp>
      <p:sp>
        <p:nvSpPr>
          <p:cNvPr id="10" name="Shape 8"/>
          <p:cNvSpPr/>
          <p:nvPr/>
        </p:nvSpPr>
        <p:spPr>
          <a:xfrm>
            <a:off x="4330712" y="3322067"/>
            <a:ext cx="138113" cy="9525"/>
          </a:xfrm>
          <a:prstGeom prst="rect">
            <a:avLst/>
          </a:prstGeom>
          <a:solidFill>
            <a:srgbClr val="3B82F6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490" y="3298254"/>
            <a:ext cx="90488" cy="571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62685" y="3096369"/>
            <a:ext cx="1127946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20" b="1" dirty="0">
                <a:solidFill>
                  <a:srgbClr val="B7C2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Hello</a:t>
            </a:r>
            <a:endParaRPr lang="en-US" sz="2520" dirty="0"/>
          </a:p>
        </p:txBody>
      </p:sp>
      <p:sp>
        <p:nvSpPr>
          <p:cNvPr id="13" name="Shape 10"/>
          <p:cNvSpPr/>
          <p:nvPr/>
        </p:nvSpPr>
        <p:spPr>
          <a:xfrm>
            <a:off x="4343400" y="3773128"/>
            <a:ext cx="457200" cy="1428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4" name="Text 11"/>
          <p:cNvSpPr/>
          <p:nvPr/>
        </p:nvSpPr>
        <p:spPr>
          <a:xfrm>
            <a:off x="2704538" y="3921323"/>
            <a:ext cx="3734849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Yohannes zewde · IT Student &amp; ML Intern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0" y="5113809"/>
            <a:ext cx="9144000" cy="28575"/>
          </a:xfrm>
          <a:prstGeom prst="rect">
            <a:avLst/>
          </a:prstGeom>
          <a:solidFill>
            <a:srgbClr val="1E40AF">
              <a:alpha val="20000"/>
            </a:srgbClr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384173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1 — INTRODUCTION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586077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25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Demystifying ML and NLP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9275" y="1282065"/>
            <a:ext cx="4189095" cy="3607435"/>
          </a:xfrm>
          <a:prstGeom prst="roundRect">
            <a:avLst>
              <a:gd name="adj" fmla="val 158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8080" y="1468041"/>
            <a:ext cx="319088" cy="319088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8" name="Text 6"/>
          <p:cNvSpPr/>
          <p:nvPr/>
        </p:nvSpPr>
        <p:spPr>
          <a:xfrm>
            <a:off x="885527" y="1522586"/>
            <a:ext cx="322503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7633" y="1925687"/>
            <a:ext cx="2461580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827405" y="2313940"/>
            <a:ext cx="3522345" cy="820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828191" y="3288953"/>
            <a:ext cx="3281363" cy="657225"/>
          </a:xfrm>
          <a:prstGeom prst="rect">
            <a:avLst/>
          </a:prstGeom>
        </p:spPr>
      </p:sp>
      <p:sp>
        <p:nvSpPr>
          <p:cNvPr id="12" name="Text 10"/>
          <p:cNvSpPr/>
          <p:nvPr/>
        </p:nvSpPr>
        <p:spPr>
          <a:xfrm>
            <a:off x="827405" y="3401695"/>
            <a:ext cx="3522980" cy="531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"If word X, then word Y" — replaced by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learned patterns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4756150" y="1285240"/>
            <a:ext cx="4181475" cy="3604895"/>
          </a:xfrm>
          <a:prstGeom prst="roundRect">
            <a:avLst>
              <a:gd name="adj" fmla="val 158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34409" y="1468041"/>
            <a:ext cx="319088" cy="319088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5" name="Text 13"/>
          <p:cNvSpPr/>
          <p:nvPr/>
        </p:nvSpPr>
        <p:spPr>
          <a:xfrm>
            <a:off x="5066854" y="1529507"/>
            <a:ext cx="387608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NLP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033963" y="1925687"/>
            <a:ext cx="4023420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Natural Language Processing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5033963" y="2313980"/>
            <a:ext cx="3910623" cy="11488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branch of AI that gives computers the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ability to understand text and spoken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words in much the same way human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beings can.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5034521" y="3586163"/>
            <a:ext cx="3281363" cy="657225"/>
          </a:xfrm>
          <a:prstGeom prst="rect">
            <a:avLst/>
          </a:prstGeom>
        </p:spPr>
      </p:sp>
      <p:sp>
        <p:nvSpPr>
          <p:cNvPr id="19" name="Text 17"/>
          <p:cNvSpPr/>
          <p:nvPr/>
        </p:nvSpPr>
        <p:spPr>
          <a:xfrm>
            <a:off x="5033963" y="3698974"/>
            <a:ext cx="3969730" cy="531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Reading, summarizing, translating — all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powered by NLP</a:t>
            </a:r>
            <a:endParaRPr lang="en-US" sz="144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3401695"/>
            <a:ext cx="3743960" cy="657225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4521" y="3586163"/>
            <a:ext cx="3281363" cy="657225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863600" y="2289810"/>
            <a:ext cx="3486785" cy="1037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Traditional programming tells the computer exactly what to do. Machine Learning takes a different approach — we provide the model with thousands of examples and let it discover the patterns on its own.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362407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1 — KEY CONCEPTS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7704021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Translation Tech &amp; Key Concepts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88" y="1231850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6208" y="1369442"/>
            <a:ext cx="4257623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Neural Machine Translation (NMT)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855980" y="1704975"/>
            <a:ext cx="7604760" cy="484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artificial, brain-like networks to translate text. It understands the whole sentence context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just word-by-word.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7688" y="2537817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6208" y="2675409"/>
            <a:ext cx="307935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Low-Resource Language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856208" y="3010719"/>
            <a:ext cx="8980966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language that, despite having millions of speakers (like Amharic), has very little digitized,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translated data available on the internet to train AI.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7688" y="3843784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6208" y="3981376"/>
            <a:ext cx="1925650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Parallel Corpus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856208" y="4316685"/>
            <a:ext cx="9348572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ultimate "dictionary" for AI. A massive dataset where every Amharic sentence has an exact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English equivalent next to it.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1247090"/>
            <a:ext cx="8048625" cy="1176338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2528292"/>
            <a:ext cx="8048625" cy="1176338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323" y="3846959"/>
            <a:ext cx="8048625" cy="1176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169994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1 — VOCABULARY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9086991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Advanced Vocabulary (Simplified)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468630" y="1053465"/>
            <a:ext cx="4293870" cy="2259965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943" y="1369442"/>
            <a:ext cx="1555916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0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TRANSFORMER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81943" y="1631305"/>
            <a:ext cx="1729174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"Engine"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781685" y="2019300"/>
            <a:ext cx="4150995" cy="1050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modern engine powering AI like ChatGPT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 Google Translate. It pays "attention" to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words in a sentence relate to each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other.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2510" y="1078230"/>
            <a:ext cx="3738880" cy="2236470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90908" y="1313562"/>
            <a:ext cx="156143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0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TOKENIZATION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990908" y="1538595"/>
            <a:ext cx="2317730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Chopping Words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4969828" y="2039283"/>
            <a:ext cx="4515430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Breaking words into smaller digestible pieces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the computer. e.g., "Unbelievable" →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"Un" + "believe" + "able"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8630" y="3395980"/>
            <a:ext cx="4286885" cy="1671320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943" y="3689449"/>
            <a:ext cx="1402973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0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FINE-TUNING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81943" y="3951312"/>
            <a:ext cx="2652735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"Grad School" for AI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796548" y="4157995"/>
            <a:ext cx="4080979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Taking a smart, general-purpose AI and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sending it to "grad school" to become an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expert in one specific task.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2510" y="3425825"/>
            <a:ext cx="3743960" cy="1623695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19663" y="3689449"/>
            <a:ext cx="128814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0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BLEU SCORE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919663" y="3951312"/>
            <a:ext cx="1646753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"Grade"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4932363" y="4157995"/>
            <a:ext cx="4489021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score we give a translation model to see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closely it matches a professional human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985401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2 — PROJECT OVERVIEW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348362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Big Picture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8005" y="1231265"/>
            <a:ext cx="8114030" cy="119761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6666" y="1379116"/>
            <a:ext cx="276225" cy="2762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8" name="Text 6"/>
          <p:cNvSpPr/>
          <p:nvPr/>
        </p:nvSpPr>
        <p:spPr>
          <a:xfrm>
            <a:off x="938957" y="1419151"/>
            <a:ext cx="12419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84759" y="1374204"/>
            <a:ext cx="222940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Ultimate Goal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1284759" y="1699171"/>
            <a:ext cx="9074609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highly accurate Amharic–English translation model and package it as a REST API — a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bridge so other web and mobile apps can easily use our translator.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7688" y="2536589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6666" y="2684264"/>
            <a:ext cx="276225" cy="2762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13" name="Text 11"/>
          <p:cNvSpPr/>
          <p:nvPr/>
        </p:nvSpPr>
        <p:spPr>
          <a:xfrm>
            <a:off x="925562" y="2724299"/>
            <a:ext cx="15901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284759" y="2679353"/>
            <a:ext cx="467427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Foundation Model — NLLB by Meta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1284759" y="3004319"/>
            <a:ext cx="8903963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Language Left Behind. A state-of-the-art open-source model specifically built to rescue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low-resource languages.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7688" y="3841738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66" y="3989412"/>
            <a:ext cx="276225" cy="2762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18" name="Text 16"/>
          <p:cNvSpPr/>
          <p:nvPr/>
        </p:nvSpPr>
        <p:spPr>
          <a:xfrm>
            <a:off x="923255" y="4029447"/>
            <a:ext cx="16511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284759" y="3984501"/>
            <a:ext cx="183839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1284759" y="4309467"/>
            <a:ext cx="8917699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Amharic has 30M+ speakers but is digitally underserved. Improving Amharic NMT removes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educational and economic barriers.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7465" y="-19685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5170349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 — DATA COLLECTION MILESTONE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6907671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Gathering the Building Blocks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-37325" y="1486064"/>
            <a:ext cx="8741055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Machine Learning, data is food. </a:t>
            </a:r>
            <a:endParaRPr lang="en-US" sz="144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model is only as smart as the examples it consumes.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462895" y="2291879"/>
            <a:ext cx="1655363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150" b="1" kern="0" spc="115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STARTED WITH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925" y="2496185"/>
            <a:ext cx="2710815" cy="9378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D1D5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2,000</a:t>
            </a:r>
            <a:endParaRPr lang="en-US" sz="5760" dirty="0"/>
          </a:p>
        </p:txBody>
      </p:sp>
      <p:sp>
        <p:nvSpPr>
          <p:cNvPr id="9" name="Text 7"/>
          <p:cNvSpPr/>
          <p:nvPr/>
        </p:nvSpPr>
        <p:spPr>
          <a:xfrm>
            <a:off x="1547336" y="3345656"/>
            <a:ext cx="1486555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sentence pairs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145979" y="2725750"/>
            <a:ext cx="547687" cy="14288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11" name="Text 9"/>
          <p:cNvSpPr/>
          <p:nvPr/>
        </p:nvSpPr>
        <p:spPr>
          <a:xfrm>
            <a:off x="3777035" y="2796778"/>
            <a:ext cx="1728401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19,000% increase</a:t>
            </a:r>
            <a:endParaRPr lang="en-US" sz="11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9336" y="3062883"/>
            <a:ext cx="180975" cy="1143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48102" y="2291879"/>
            <a:ext cx="2106067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150" b="1" kern="0" spc="115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DATASET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36829" y="2410346"/>
            <a:ext cx="3128687" cy="10239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380K+</a:t>
            </a:r>
            <a:endParaRPr lang="en-US" sz="5760" dirty="0"/>
          </a:p>
        </p:txBody>
      </p:sp>
      <p:sp>
        <p:nvSpPr>
          <p:cNvPr id="15" name="Text 12"/>
          <p:cNvSpPr/>
          <p:nvPr/>
        </p:nvSpPr>
        <p:spPr>
          <a:xfrm>
            <a:off x="5631366" y="3345656"/>
            <a:ext cx="2139538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405"/>
              </a:spcBef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pristine parallel pairs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600082" y="3886646"/>
            <a:ext cx="794383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43215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 — DATA SOURCES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756259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Did the Data Come From?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13" y="1340048"/>
            <a:ext cx="47625" cy="476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7" name="Text 5"/>
          <p:cNvSpPr/>
          <p:nvPr/>
        </p:nvSpPr>
        <p:spPr>
          <a:xfrm>
            <a:off x="731416" y="1240854"/>
            <a:ext cx="1880763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Religious Texts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31416" y="1524744"/>
            <a:ext cx="4790844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Bible, JW300 — highly consistent,</a:t>
            </a:r>
            <a:endParaRPr lang="en-US" sz="144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professionally translated.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662413" y="1340048"/>
            <a:ext cx="47625" cy="476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10" name="Text 8"/>
          <p:cNvSpPr/>
          <p:nvPr/>
        </p:nvSpPr>
        <p:spPr>
          <a:xfrm>
            <a:off x="4846216" y="1240854"/>
            <a:ext cx="227032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 &amp; Law Books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846216" y="1524744"/>
            <a:ext cx="3914492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Strict, formal, and precise terminology.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547613" y="2718346"/>
            <a:ext cx="47625" cy="476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13" name="Text 11"/>
          <p:cNvSpPr/>
          <p:nvPr/>
        </p:nvSpPr>
        <p:spPr>
          <a:xfrm>
            <a:off x="731416" y="2619152"/>
            <a:ext cx="245519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Colloquial Datasets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731416" y="2903041"/>
            <a:ext cx="4361810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Conversational text to teach the model</a:t>
            </a:r>
            <a:endParaRPr lang="en-US" sz="144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how people actually speak.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662413" y="2718346"/>
            <a:ext cx="47625" cy="476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16" name="Text 14"/>
          <p:cNvSpPr/>
          <p:nvPr/>
        </p:nvSpPr>
        <p:spPr>
          <a:xfrm>
            <a:off x="4846216" y="2619152"/>
            <a:ext cx="241766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Web-Scraped Data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4846216" y="2903041"/>
            <a:ext cx="4145793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OPUS / Common Crawl — massive, varied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internet text.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547613" y="4096717"/>
            <a:ext cx="47625" cy="476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19" name="Text 17"/>
          <p:cNvSpPr/>
          <p:nvPr/>
        </p:nvSpPr>
        <p:spPr>
          <a:xfrm>
            <a:off x="731416" y="3997523"/>
            <a:ext cx="1707699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News Articles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731416" y="4281413"/>
            <a:ext cx="5848677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Multilingual news for modern vocabulary &amp; current events.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4059503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 — ETHIOPIAN CONTEXT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5788023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&amp; Creative Sources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88" y="1230846"/>
            <a:ext cx="8048625" cy="15621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7633" y="1399877"/>
            <a:ext cx="417055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Corporate Digital Services &amp; Apps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827633" y="1760860"/>
            <a:ext cx="9640141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Scraping bilingual app localizations, user manuals, and Terms of Service from major local entities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Ethio Telecom / Telebirr, Commercial Bank of Ethiopia, Ethiopian Airlines. These companies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 high-quality English and Amharic versions of identical 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7688" y="2947653"/>
            <a:ext cx="8048625" cy="1262063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7633" y="3115270"/>
            <a:ext cx="4328629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Media Subtitles &amp; Transcripts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827633" y="3476253"/>
            <a:ext cx="9487294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Harvesting transcripts from bilingual YouTube creators and closed-captioning files from local TV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networks (Kana TV, EBS) that regularly translate international content.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33070" y="-48895"/>
            <a:ext cx="9144000" cy="5143500"/>
          </a:xfrm>
          <a:prstGeom prst="rect">
            <a:avLst/>
          </a:prstGeom>
          <a:solidFill>
            <a:srgbClr val="F8FAFC"/>
          </a:solidFill>
        </p:spPr>
        <p:txBody>
          <a:bodyPr/>
          <a:p>
            <a:endParaRPr lang="en-GB" altLang="en-US"/>
          </a:p>
        </p:txBody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104019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3 — TECH STACK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6271327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Collection Tech Stack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217170" y="1232535"/>
            <a:ext cx="3194685" cy="3656965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1630152" y="1389869"/>
            <a:ext cx="366712" cy="366712"/>
          </a:xfrm>
          <a:prstGeom prst="ellipse">
            <a:avLst/>
          </a:prstGeom>
          <a:solidFill>
            <a:srgbClr val="1D45B1">
              <a:alpha val="10196"/>
            </a:srgbClr>
          </a:solidFill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1661748" y="1468264"/>
            <a:ext cx="303446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</a:t>
            </a:r>
            <a:endParaRPr lang="en-US" sz="115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37472" y="1868463"/>
            <a:ext cx="235207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Languages &amp; Tools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778914" y="2203772"/>
            <a:ext cx="2069113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-Python for scripting,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-Pandas for data</a:t>
            </a:r>
            <a:endParaRPr lang="en-US" sz="800" dirty="0"/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manipulation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&amp; GitHub — version control, </a:t>
            </a:r>
            <a:endParaRPr lang="en-US" altLang="en-GB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syncing between two machines</a:t>
            </a:r>
            <a:endParaRPr lang="en-US" altLang="en-GB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Jupyter Notebooks — data exploration and analysis</a:t>
            </a:r>
            <a:endParaRPr lang="en-US" altLang="en-GB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 Code — development environment</a:t>
            </a:r>
            <a:endParaRPr lang="en-US" altLang="en-GB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altLang="en-GB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Regex (re library) — used heavily in data cleaning scripts</a:t>
            </a:r>
            <a:endParaRPr lang="en-US" altLang="en-GB" sz="144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ctr">
              <a:lnSpc>
                <a:spcPts val="2340"/>
              </a:lnSpc>
              <a:buFont typeface="Wingdings" panose="05000000000000000000" charset="0"/>
              <a:buChar char="ü"/>
            </a:pPr>
            <a:endParaRPr lang="en-US" sz="144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3411855" y="1232535"/>
            <a:ext cx="3070225" cy="3658235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4388607" y="1389869"/>
            <a:ext cx="366712" cy="366712"/>
          </a:xfrm>
          <a:prstGeom prst="ellipse">
            <a:avLst/>
          </a:prstGeom>
          <a:solidFill>
            <a:srgbClr val="1D45B1">
              <a:alpha val="10196"/>
            </a:srgbClr>
          </a:solidFill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421836" y="1468264"/>
            <a:ext cx="300253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HF</a:t>
            </a:r>
            <a:endParaRPr lang="en-US" sz="115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3695525" y="1868463"/>
            <a:ext cx="175287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/ ML Library</a:t>
            </a:r>
            <a:endParaRPr lang="en-US" sz="144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3695700" y="2232660"/>
            <a:ext cx="2519045" cy="1671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Hugging Face datasets &amp;</a:t>
            </a:r>
            <a:endParaRPr lang="en-US" sz="800" dirty="0"/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transformers ecosystem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datasets library-specifically for loading HF datasets</a:t>
            </a:r>
            <a:b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</a:b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huggingface_hub-for authentication and model access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scikit-learn-for train/val/test splitting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endParaRPr lang="en-US" altLang="en-GB" sz="800" dirty="0"/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6518275" y="1226820"/>
            <a:ext cx="1969770" cy="366395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7178811" y="1367644"/>
            <a:ext cx="366712" cy="366712"/>
          </a:xfrm>
          <a:prstGeom prst="ellipse">
            <a:avLst/>
          </a:prstGeom>
          <a:solidFill>
            <a:srgbClr val="1D45B1">
              <a:alpha val="10196"/>
            </a:srgbClr>
          </a:solidFill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7170037" y="1468264"/>
            <a:ext cx="320762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DB</a:t>
            </a:r>
            <a:endParaRPr lang="en-US" sz="115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6613525" y="1912620"/>
            <a:ext cx="1558290" cy="2520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Parallel Corpora </a:t>
            </a:r>
            <a:endParaRPr lang="en-US" sz="1440" b="1" dirty="0">
              <a:solidFill>
                <a:srgbClr val="111827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</a:t>
            </a:r>
            <a:endParaRPr lang="en-US" sz="1440" dirty="0"/>
          </a:p>
        </p:txBody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6257925" y="2204085"/>
            <a:ext cx="2622550" cy="1476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OPUS-100 and FLORES-200</a:t>
            </a:r>
            <a:endParaRPr lang="en-US" sz="800" dirty="0"/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benchmark datasets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Binle Corpu(GitHub)</a:t>
            </a: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171450" indent="-171450" algn="ctr">
              <a:lnSpc>
                <a:spcPts val="2340"/>
              </a:lnSpc>
              <a:buFont typeface="Wingdings" panose="05000000000000000000" charset="0"/>
              <a:buChar char="ü"/>
            </a:pPr>
            <a: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CSV Dataset(GitHub)</a:t>
            </a:r>
            <a:br>
              <a:rPr lang="en-US" sz="8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</a:br>
            <a:endParaRPr lang="en-US" sz="800" dirty="0">
              <a:solidFill>
                <a:srgbClr val="6B728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35563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4 — DATA QUALITY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8262298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"Garbage In, Garbage Out" Rule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548580" y="1801267"/>
            <a:ext cx="7900980" cy="6125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75"/>
              </a:lnSpc>
              <a:buNone/>
            </a:pPr>
            <a:r>
              <a:rPr lang="en-US" sz="158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internet data is chaotic. If we feed the network bad grammar, mixed</a:t>
            </a:r>
            <a:endParaRPr lang="en-US" sz="1580" dirty="0"/>
          </a:p>
          <a:p>
            <a:pPr marL="0" indent="0" algn="l">
              <a:lnSpc>
                <a:spcPts val="2575"/>
              </a:lnSpc>
              <a:buNone/>
            </a:pPr>
            <a:r>
              <a:rPr lang="en-US" sz="158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languages, or code snippets, it will learn to output garbage.</a:t>
            </a:r>
            <a:endParaRPr lang="en-US" sz="158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622" y="2590205"/>
            <a:ext cx="6581775" cy="7953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0518" y="2702496"/>
            <a:ext cx="1221879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E700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810518" y="3013174"/>
            <a:ext cx="7321518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B2C3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Messy symbols, missing rows, mixed languages, duplicates, code snippets</a:t>
            </a:r>
            <a:endParaRPr lang="en-US" sz="144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622" y="3539951"/>
            <a:ext cx="6581775" cy="7953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0518" y="3652242"/>
            <a:ext cx="182388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0082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Cleaning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810518" y="3962921"/>
            <a:ext cx="639670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00A63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Clean, aligned Amharic–English sentence pairs ready for training</a:t>
            </a:r>
            <a:endParaRPr lang="en-US" sz="144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9114" y="2242133"/>
            <a:ext cx="1095375" cy="3095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76108" y="2291953"/>
            <a:ext cx="1020857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Input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077" y="2628305"/>
            <a:ext cx="1095375" cy="20478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651477" y="2910706"/>
            <a:ext cx="790575" cy="400050"/>
          </a:xfrm>
          <a:prstGeom prst="roundRect">
            <a:avLst>
              <a:gd name="adj" fmla="val 9524"/>
            </a:avLst>
          </a:prstGeom>
          <a:solidFill>
            <a:srgbClr val="1E40AF"/>
          </a:solidFill>
          <a:effectLst>
            <a:outerShdw blurRad="28575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833940" y="2992041"/>
            <a:ext cx="61049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4815" y="3388370"/>
            <a:ext cx="723900" cy="1524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499114" y="3617863"/>
            <a:ext cx="1095375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4763">
            <a:solidFill>
              <a:srgbClr val="E5E7EB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7625953" y="3641452"/>
            <a:ext cx="1151357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Pairs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622" y="2590205"/>
            <a:ext cx="6581775" cy="795338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9622" y="3539951"/>
            <a:ext cx="6581775" cy="795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61412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4 — CLEANING STEPS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5424867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Cleanup Operation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9585" y="1251458"/>
            <a:ext cx="3838575" cy="3652838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943" y="1369442"/>
            <a:ext cx="2132186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300" b="1" kern="0" spc="65" dirty="0">
                <a:solidFill>
                  <a:srgbClr val="FB2C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PROBLEMS FOUND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0976" y="1914694"/>
            <a:ext cx="47625" cy="47625"/>
          </a:xfrm>
          <a:prstGeom prst="ellipse">
            <a:avLst/>
          </a:pr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919014" y="1733476"/>
            <a:ext cx="4122480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button text </a:t>
            </a:r>
            <a:endParaRPr lang="en-US" sz="1440" dirty="0">
              <a:solidFill>
                <a:srgbClr val="111827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(e.g., "Click here / እዚህ ጠቅ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ያድርጉ")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781611" y="2839174"/>
            <a:ext cx="47625" cy="47625"/>
          </a:xfrm>
          <a:prstGeom prst="ellipse">
            <a:avLst/>
          </a:prstGeom>
          <a:solidFill>
            <a:srgbClr val="FF6467"/>
          </a:solidFill>
        </p:spPr>
      </p:sp>
      <p:sp>
        <p:nvSpPr>
          <p:cNvPr id="11" name="Text 9"/>
          <p:cNvSpPr/>
          <p:nvPr/>
        </p:nvSpPr>
        <p:spPr>
          <a:xfrm>
            <a:off x="873294" y="2767176"/>
            <a:ext cx="2262396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or empty rows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780976" y="3235940"/>
            <a:ext cx="47625" cy="47625"/>
          </a:xfrm>
          <a:prstGeom prst="ellipse">
            <a:avLst/>
          </a:prstGeom>
          <a:solidFill>
            <a:srgbClr val="FF6467"/>
          </a:solidFill>
        </p:spPr>
      </p:sp>
      <p:sp>
        <p:nvSpPr>
          <p:cNvPr id="13" name="Text 11"/>
          <p:cNvSpPr/>
          <p:nvPr/>
        </p:nvSpPr>
        <p:spPr>
          <a:xfrm>
            <a:off x="873294" y="3160767"/>
            <a:ext cx="2171075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Duplicate paragraphs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780976" y="3706366"/>
            <a:ext cx="47625" cy="47625"/>
          </a:xfrm>
          <a:prstGeom prst="ellipse">
            <a:avLst/>
          </a:prstGeom>
          <a:solidFill>
            <a:srgbClr val="FF6467"/>
          </a:solidFill>
        </p:spPr>
      </p:sp>
      <p:sp>
        <p:nvSpPr>
          <p:cNvPr id="15" name="Text 13"/>
          <p:cNvSpPr/>
          <p:nvPr/>
        </p:nvSpPr>
        <p:spPr>
          <a:xfrm>
            <a:off x="920284" y="3518163"/>
            <a:ext cx="3602608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English words appearing in Amharic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column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4813935" y="1251585"/>
            <a:ext cx="4216400" cy="3666490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8272" y="1369442"/>
            <a:ext cx="2347816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300" b="1" kern="0" spc="65" dirty="0">
                <a:solidFill>
                  <a:srgbClr val="00A6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SOLUTIONS APPLIED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7305" y="1804839"/>
            <a:ext cx="47625" cy="47625"/>
          </a:xfrm>
          <a:prstGeom prst="ellipse">
            <a:avLst/>
          </a:prstGeom>
          <a:solidFill>
            <a:srgbClr val="00C951"/>
          </a:solidFill>
        </p:spPr>
      </p:sp>
      <p:sp>
        <p:nvSpPr>
          <p:cNvPr id="19" name="Text 17"/>
          <p:cNvSpPr/>
          <p:nvPr/>
        </p:nvSpPr>
        <p:spPr>
          <a:xfrm>
            <a:off x="5125343" y="1733476"/>
            <a:ext cx="310131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Deleted empty or missing rows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4987305" y="2194620"/>
            <a:ext cx="47625" cy="47625"/>
          </a:xfrm>
          <a:prstGeom prst="ellipse">
            <a:avLst/>
          </a:prstGeom>
          <a:solidFill>
            <a:srgbClr val="00C951"/>
          </a:solidFill>
        </p:spPr>
      </p:sp>
      <p:sp>
        <p:nvSpPr>
          <p:cNvPr id="21" name="Text 19"/>
          <p:cNvSpPr/>
          <p:nvPr/>
        </p:nvSpPr>
        <p:spPr>
          <a:xfrm>
            <a:off x="5125343" y="2123256"/>
            <a:ext cx="4066565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Length filtering: kept sentences between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3–100 words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4987305" y="2881610"/>
            <a:ext cx="47625" cy="47625"/>
          </a:xfrm>
          <a:prstGeom prst="ellipse">
            <a:avLst/>
          </a:prstGeom>
          <a:solidFill>
            <a:srgbClr val="00C951"/>
          </a:solidFill>
        </p:spPr>
      </p:sp>
      <p:sp>
        <p:nvSpPr>
          <p:cNvPr id="23" name="Text 21"/>
          <p:cNvSpPr/>
          <p:nvPr/>
        </p:nvSpPr>
        <p:spPr>
          <a:xfrm>
            <a:off x="5125343" y="2810247"/>
            <a:ext cx="4121222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Language detection to filter non-Amharic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characters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4987305" y="3568601"/>
            <a:ext cx="47625" cy="47625"/>
          </a:xfrm>
          <a:prstGeom prst="ellipse">
            <a:avLst/>
          </a:prstGeom>
          <a:solidFill>
            <a:srgbClr val="00C951"/>
          </a:solidFill>
        </p:spPr>
      </p:sp>
      <p:sp>
        <p:nvSpPr>
          <p:cNvPr id="25" name="Text 23"/>
          <p:cNvSpPr/>
          <p:nvPr/>
        </p:nvSpPr>
        <p:spPr>
          <a:xfrm>
            <a:off x="5125343" y="3497238"/>
            <a:ext cx="3904528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Deduplication &amp; fixing spacing artifacts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2644222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4 — RESULTS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3558979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vs. After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13" y="1830549"/>
            <a:ext cx="2967038" cy="1538287"/>
          </a:xfrm>
          <a:prstGeom prst="roundRect">
            <a:avLst>
              <a:gd name="adj" fmla="val 371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14290" y="1993255"/>
            <a:ext cx="2033610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1150" b="1" kern="0" spc="115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CLEANING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3292" y="2201242"/>
            <a:ext cx="2395604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20" b="1" dirty="0">
                <a:solidFill>
                  <a:srgbClr val="D1D5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500K+</a:t>
            </a:r>
            <a:endParaRPr lang="en-US" sz="4320" dirty="0"/>
          </a:p>
        </p:txBody>
      </p:sp>
      <p:sp>
        <p:nvSpPr>
          <p:cNvPr id="9" name="Text 7"/>
          <p:cNvSpPr/>
          <p:nvPr/>
        </p:nvSpPr>
        <p:spPr>
          <a:xfrm>
            <a:off x="604410" y="2941290"/>
            <a:ext cx="285337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605"/>
              </a:spcBef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sentence pairs collected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567238" y="1989386"/>
            <a:ext cx="9525" cy="25717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1" name="Shape 9"/>
          <p:cNvSpPr/>
          <p:nvPr/>
        </p:nvSpPr>
        <p:spPr>
          <a:xfrm>
            <a:off x="3879056" y="2297274"/>
            <a:ext cx="1385888" cy="604837"/>
          </a:xfrm>
          <a:prstGeom prst="roundRect">
            <a:avLst>
              <a:gd name="adj" fmla="val 6299"/>
            </a:avLst>
          </a:prstGeom>
          <a:solidFill>
            <a:srgbClr val="FFE2E2"/>
          </a:solidFill>
        </p:spPr>
      </p:sp>
      <p:sp>
        <p:nvSpPr>
          <p:cNvPr id="12" name="Text 10"/>
          <p:cNvSpPr/>
          <p:nvPr/>
        </p:nvSpPr>
        <p:spPr>
          <a:xfrm>
            <a:off x="4016573" y="2343820"/>
            <a:ext cx="672309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00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-120K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16573" y="2590726"/>
            <a:ext cx="1501259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F646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unusable rows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567238" y="2952824"/>
            <a:ext cx="9525" cy="25717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5" name="Shape 13"/>
          <p:cNvSpPr/>
          <p:nvPr/>
        </p:nvSpPr>
        <p:spPr>
          <a:xfrm>
            <a:off x="5629349" y="1830549"/>
            <a:ext cx="2967038" cy="1538287"/>
          </a:xfrm>
          <a:prstGeom prst="roundRect">
            <a:avLst>
              <a:gd name="adj" fmla="val 3715"/>
            </a:avLst>
          </a:prstGeom>
          <a:solidFill>
            <a:srgbClr val="273BB1">
              <a:alpha val="5098"/>
            </a:srgbClr>
          </a:solidFill>
          <a:ln w="4763">
            <a:solidFill>
              <a:srgbClr val="1E41AF">
                <a:alpha val="20000"/>
              </a:srgbClr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68967" y="1993255"/>
            <a:ext cx="1887728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1150" b="1" kern="0" spc="115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CLEANING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32527" y="2201242"/>
            <a:ext cx="2360682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2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380K+</a:t>
            </a:r>
            <a:endParaRPr lang="en-US" sz="4320" dirty="0"/>
          </a:p>
        </p:txBody>
      </p:sp>
      <p:sp>
        <p:nvSpPr>
          <p:cNvPr id="18" name="Text 16"/>
          <p:cNvSpPr/>
          <p:nvPr/>
        </p:nvSpPr>
        <p:spPr>
          <a:xfrm>
            <a:off x="5782981" y="2941290"/>
            <a:ext cx="265970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605"/>
              </a:spcBef>
              <a:buNone/>
            </a:pPr>
            <a:r>
              <a:rPr lang="en-US" sz="1440" dirty="0">
                <a:solidFill>
                  <a:srgbClr val="5C75C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curated, high-quality pairs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47688" y="3525143"/>
            <a:ext cx="8048625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-44853" y="3641303"/>
            <a:ext cx="8779557" cy="526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highly curated, dense, and effective learning environment — ready for</a:t>
            </a:r>
            <a:endParaRPr lang="en-US" sz="1440" dirty="0"/>
          </a:p>
          <a:p>
            <a:pPr marL="0" indent="0" algn="ctr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fine-tuning.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56652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5 — PREPROCESSING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7662423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Preparing for the Neural Network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548580" y="1133252"/>
            <a:ext cx="8184230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Converting clean text into the exact mathematical format the NLLB model expects.</a:t>
            </a:r>
            <a:endParaRPr lang="en-US" sz="1440" dirty="0"/>
          </a:p>
        </p:txBody>
      </p:sp>
      <p:sp>
        <p:nvSpPr>
          <p:cNvPr id="11" name="Shape 9"/>
          <p:cNvSpPr/>
          <p:nvPr>
            <p:custDataLst>
              <p:tags r:id="rId1"/>
            </p:custDataLst>
          </p:nvPr>
        </p:nvSpPr>
        <p:spPr>
          <a:xfrm>
            <a:off x="7237363" y="1556370"/>
            <a:ext cx="1357313" cy="3052763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2"/>
            </p:custDataLst>
          </p:nvPr>
        </p:nvSpPr>
        <p:spPr>
          <a:xfrm>
            <a:off x="7424217" y="1604739"/>
            <a:ext cx="1072418" cy="57626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3240" dirty="0"/>
          </a:p>
        </p:txBody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7424217" y="2111499"/>
            <a:ext cx="1333321" cy="526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endParaRPr lang="en-US" sz="1440" dirty="0"/>
          </a:p>
        </p:txBody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7424217" y="2710830"/>
            <a:ext cx="1335933" cy="1743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Practice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quizzes to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tune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during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training.</a:t>
            </a:r>
            <a:endParaRPr lang="en-US" sz="1440" dirty="0"/>
          </a:p>
        </p:txBody>
      </p:sp>
      <p:sp>
        <p:nvSpPr>
          <p:cNvPr id="15" name="Shape 13"/>
          <p:cNvSpPr/>
          <p:nvPr>
            <p:custDataLst>
              <p:tags r:id="rId5"/>
            </p:custDataLst>
          </p:nvPr>
        </p:nvSpPr>
        <p:spPr>
          <a:xfrm>
            <a:off x="5411470" y="1557020"/>
            <a:ext cx="1517650" cy="305181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>
            <p:custDataLst>
              <p:tags r:id="rId6"/>
            </p:custDataLst>
          </p:nvPr>
        </p:nvSpPr>
        <p:spPr>
          <a:xfrm>
            <a:off x="5692572" y="1674688"/>
            <a:ext cx="1072418" cy="57626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3240" dirty="0"/>
          </a:p>
        </p:txBody>
      </p:sp>
      <p:sp>
        <p:nvSpPr>
          <p:cNvPr id="17" name="Text 15"/>
          <p:cNvSpPr/>
          <p:nvPr>
            <p:custDataLst>
              <p:tags r:id="rId7"/>
            </p:custDataLst>
          </p:nvPr>
        </p:nvSpPr>
        <p:spPr>
          <a:xfrm>
            <a:off x="5621452" y="2293208"/>
            <a:ext cx="121568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Data</a:t>
            </a:r>
            <a:endParaRPr lang="en-US" sz="1440" dirty="0"/>
          </a:p>
        </p:txBody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5596052" y="2587694"/>
            <a:ext cx="1333128" cy="1743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blind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exam to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prove the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actually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works.</a:t>
            </a:r>
            <a:endParaRPr lang="en-US" sz="1440" dirty="0"/>
          </a:p>
        </p:txBody>
      </p:sp>
      <p:sp>
        <p:nvSpPr>
          <p:cNvPr id="19" name="Shape 13"/>
          <p:cNvSpPr/>
          <p:nvPr/>
        </p:nvSpPr>
        <p:spPr>
          <a:xfrm>
            <a:off x="523240" y="1588770"/>
            <a:ext cx="4392930" cy="305562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2134235" y="1778000"/>
            <a:ext cx="1948815" cy="668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  <a:sym typeface="+mn-ea"/>
              </a:rPr>
              <a:t>80%</a:t>
            </a:r>
            <a:endParaRPr lang="en-US" altLang="en-US" sz="3200" b="1" dirty="0">
              <a:solidFill>
                <a:schemeClr val="bg1"/>
              </a:solidFill>
              <a:latin typeface="Poppins" pitchFamily="34" charset="0"/>
              <a:ea typeface="Poppins" pitchFamily="34" charset="-122"/>
              <a:cs typeface="Poppins" pitchFamily="34" charset="-120"/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777240" y="2930525"/>
            <a:ext cx="38665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sym typeface="+mn-ea"/>
              </a:rPr>
              <a:t>The textbook the model studies from to learn the language-thousands of examples it learns patterns structure, and meanig from</a:t>
            </a:r>
            <a:endParaRPr lang="en-US" altLang="en-US" dirty="0">
              <a:solidFill>
                <a:schemeClr val="bg1">
                  <a:lumMod val="95000"/>
                </a:schemeClr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2075815" y="2292985"/>
            <a:ext cx="1445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sym typeface="+mn-ea"/>
              </a:rPr>
              <a:t>Tranining Data</a:t>
            </a:r>
            <a:endParaRPr lang="en-US" dirty="0"/>
          </a:p>
          <a:p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566525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5 — PREPROCESSING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7781702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Tokenizing Fidel (Amharic Script)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9275" y="1230630"/>
            <a:ext cx="4062095" cy="2108835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943" y="1374204"/>
            <a:ext cx="2571184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Ge'ez Script?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81943" y="1735187"/>
            <a:ext cx="4123447" cy="14460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Amharic uses the ancient Ge'ez alphabet,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called Fidel. Unlike Latin script, each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 represents a consonant-vowel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combination — making tokenization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unique.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3565" y="3374390"/>
            <a:ext cx="4027805" cy="1687195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653" y="3475191"/>
            <a:ext cx="247396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4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NLLB Handles It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729238" y="3574554"/>
            <a:ext cx="3933646" cy="14460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NLLB tokenizer processes Ge'ez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characters into numeric token IDs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losing meaning, using a shared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multilingual vocabulary of 256,000</a:t>
            </a:r>
            <a:endParaRPr lang="en-US" sz="10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tokens.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4875" y="1235710"/>
            <a:ext cx="4204970" cy="3825875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27070" y="1913409"/>
            <a:ext cx="3260348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58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TOKENIZATION 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66454" y="2216299"/>
            <a:ext cx="3605212" cy="838200"/>
          </a:xfrm>
          <a:prstGeom prst="roundRect">
            <a:avLst>
              <a:gd name="adj" fmla="val 4545"/>
            </a:avLst>
          </a:prstGeom>
          <a:solidFill>
            <a:srgbClr val="F9FAFB"/>
          </a:solidFill>
        </p:spPr>
      </p:sp>
      <p:sp>
        <p:nvSpPr>
          <p:cNvPr id="15" name="Text 13"/>
          <p:cNvSpPr/>
          <p:nvPr/>
        </p:nvSpPr>
        <p:spPr>
          <a:xfrm>
            <a:off x="6171687" y="2348061"/>
            <a:ext cx="773594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ሰላም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5670582" y="2749972"/>
            <a:ext cx="1775802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Amharic text</a:t>
            </a:r>
            <a:endParaRPr lang="en-US" sz="144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3718" y="3134449"/>
            <a:ext cx="266700" cy="10001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13444" y="3337161"/>
            <a:ext cx="3605212" cy="738188"/>
          </a:xfrm>
          <a:prstGeom prst="roundRect">
            <a:avLst>
              <a:gd name="adj" fmla="val 5161"/>
            </a:avLst>
          </a:prstGeom>
          <a:solidFill>
            <a:srgbClr val="273BB1">
              <a:alpha val="5098"/>
            </a:srgbClr>
          </a:solidFill>
          <a:ln w="4763">
            <a:solidFill>
              <a:srgbClr val="1E41AF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5525" y="3545235"/>
            <a:ext cx="2685916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[ 256001, 4821, 992 ]</a:t>
            </a:r>
            <a:endParaRPr lang="en-US" sz="1580" dirty="0"/>
          </a:p>
        </p:txBody>
      </p:sp>
      <p:sp>
        <p:nvSpPr>
          <p:cNvPr id="20" name="Text 17"/>
          <p:cNvSpPr/>
          <p:nvPr/>
        </p:nvSpPr>
        <p:spPr>
          <a:xfrm>
            <a:off x="5620956" y="3842147"/>
            <a:ext cx="1875056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Numeric token IDs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4905360" y="4216782"/>
            <a:ext cx="4312087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model operates entirely on numbers </a:t>
            </a:r>
            <a:endParaRPr lang="en-US" sz="1440" dirty="0"/>
          </a:p>
          <a:p>
            <a:pPr marL="0" indent="0" algn="ctr">
              <a:lnSpc>
                <a:spcPts val="234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never raw text.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2407116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6 — TOOLS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4146664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Intern Arsenal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9064" y="1232408"/>
            <a:ext cx="2528888" cy="3652838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943" y="1369442"/>
            <a:ext cx="613685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2427" y="1661703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</p:sp>
      <p:sp>
        <p:nvSpPr>
          <p:cNvPr id="9" name="Text 7"/>
          <p:cNvSpPr/>
          <p:nvPr/>
        </p:nvSpPr>
        <p:spPr>
          <a:xfrm>
            <a:off x="919088" y="1722165"/>
            <a:ext cx="92402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782427" y="2100597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</p:sp>
      <p:sp>
        <p:nvSpPr>
          <p:cNvPr id="11" name="Text 9"/>
          <p:cNvSpPr/>
          <p:nvPr/>
        </p:nvSpPr>
        <p:spPr>
          <a:xfrm>
            <a:off x="919088" y="2161059"/>
            <a:ext cx="98254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782427" y="2539492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</p:sp>
      <p:sp>
        <p:nvSpPr>
          <p:cNvPr id="13" name="Text 11"/>
          <p:cNvSpPr/>
          <p:nvPr/>
        </p:nvSpPr>
        <p:spPr>
          <a:xfrm>
            <a:off x="919088" y="2599953"/>
            <a:ext cx="946368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NumPy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3307519" y="1232408"/>
            <a:ext cx="2528888" cy="3652838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40398" y="1369442"/>
            <a:ext cx="1228554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/ ML HUB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40882" y="1660773"/>
            <a:ext cx="2062162" cy="652463"/>
          </a:xfrm>
          <a:prstGeom prst="roundRect">
            <a:avLst>
              <a:gd name="adj" fmla="val 5839"/>
            </a:avLst>
          </a:prstGeom>
          <a:solidFill>
            <a:srgbClr val="F9FAFB"/>
          </a:solidFill>
        </p:spPr>
      </p:sp>
      <p:sp>
        <p:nvSpPr>
          <p:cNvPr id="17" name="Text 15"/>
          <p:cNvSpPr/>
          <p:nvPr/>
        </p:nvSpPr>
        <p:spPr>
          <a:xfrm>
            <a:off x="3677543" y="1722165"/>
            <a:ext cx="173759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Hugging Face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3677543" y="1991767"/>
            <a:ext cx="2281163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datasets, transformers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6065974" y="1232408"/>
            <a:ext cx="2528888" cy="3652838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8853" y="1369442"/>
            <a:ext cx="1979630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 ENVIRONMENT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99336" y="1661703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</p:sp>
      <p:sp>
        <p:nvSpPr>
          <p:cNvPr id="22" name="Text 20"/>
          <p:cNvSpPr/>
          <p:nvPr/>
        </p:nvSpPr>
        <p:spPr>
          <a:xfrm>
            <a:off x="6435998" y="1722165"/>
            <a:ext cx="2378192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Jupyter Notebooks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6299336" y="2100597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</p:sp>
      <p:sp>
        <p:nvSpPr>
          <p:cNvPr id="24" name="Text 22"/>
          <p:cNvSpPr/>
          <p:nvPr/>
        </p:nvSpPr>
        <p:spPr>
          <a:xfrm>
            <a:off x="6435998" y="2161059"/>
            <a:ext cx="1067581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 Code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299336" y="2539492"/>
            <a:ext cx="2062162" cy="376238"/>
          </a:xfrm>
          <a:prstGeom prst="roundRect">
            <a:avLst>
              <a:gd name="adj" fmla="val 10127"/>
            </a:avLst>
          </a:prstGeom>
          <a:solidFill>
            <a:srgbClr val="F9FAFB"/>
          </a:solidFill>
        </p:spPr>
      </p:sp>
      <p:sp>
        <p:nvSpPr>
          <p:cNvPr id="26" name="Text 24"/>
          <p:cNvSpPr/>
          <p:nvPr/>
        </p:nvSpPr>
        <p:spPr>
          <a:xfrm>
            <a:off x="6435998" y="2599953"/>
            <a:ext cx="1538503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&amp; GitHub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118143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7 — CHALLENGES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5386462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Overcoming Obstacles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88" y="1231441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6666" y="1379116"/>
            <a:ext cx="276225" cy="276225"/>
          </a:xfrm>
          <a:prstGeom prst="ellipse">
            <a:avLst/>
          </a:prstGeom>
          <a:solidFill>
            <a:srgbClr val="FFEDD4"/>
          </a:solidFill>
        </p:spPr>
      </p:sp>
      <p:sp>
        <p:nvSpPr>
          <p:cNvPr id="8" name="Shape 6"/>
          <p:cNvSpPr/>
          <p:nvPr/>
        </p:nvSpPr>
        <p:spPr>
          <a:xfrm>
            <a:off x="910010" y="1462460"/>
            <a:ext cx="109537" cy="109537"/>
          </a:xfrm>
          <a:prstGeom prst="ellipse">
            <a:avLst/>
          </a:prstGeom>
          <a:solidFill>
            <a:srgbClr val="FF8904"/>
          </a:solidFill>
        </p:spPr>
      </p:sp>
      <p:sp>
        <p:nvSpPr>
          <p:cNvPr id="9" name="Text 7"/>
          <p:cNvSpPr/>
          <p:nvPr/>
        </p:nvSpPr>
        <p:spPr>
          <a:xfrm>
            <a:off x="1284759" y="1374204"/>
            <a:ext cx="3200854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Low-Resource Reality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1284759" y="1699171"/>
            <a:ext cx="8469801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True Amharic parallel data is incredibly sparse and often hidden in unformatted PDFs.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Finding quality sources required creative thinking.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7688" y="2536589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6666" y="2684264"/>
            <a:ext cx="276225" cy="276225"/>
          </a:xfrm>
          <a:prstGeom prst="ellipse">
            <a:avLst/>
          </a:prstGeom>
          <a:solidFill>
            <a:srgbClr val="FFEDD4"/>
          </a:solidFill>
        </p:spPr>
      </p:sp>
      <p:sp>
        <p:nvSpPr>
          <p:cNvPr id="13" name="Shape 11"/>
          <p:cNvSpPr/>
          <p:nvPr/>
        </p:nvSpPr>
        <p:spPr>
          <a:xfrm>
            <a:off x="910010" y="2767608"/>
            <a:ext cx="109537" cy="109537"/>
          </a:xfrm>
          <a:prstGeom prst="ellipse">
            <a:avLst/>
          </a:prstGeom>
          <a:solidFill>
            <a:srgbClr val="FF8904"/>
          </a:solidFill>
        </p:spPr>
      </p:sp>
      <p:sp>
        <p:nvSpPr>
          <p:cNvPr id="14" name="Text 12"/>
          <p:cNvSpPr/>
          <p:nvPr/>
        </p:nvSpPr>
        <p:spPr>
          <a:xfrm>
            <a:off x="1284759" y="2679353"/>
            <a:ext cx="2522525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and Scale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1284759" y="3004319"/>
            <a:ext cx="9172218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Processing hundreds of thousands of rows crashes standard memory. Learned to chunk data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use Hugging Face streaming to handle scale.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7688" y="3841738"/>
            <a:ext cx="8048625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66" y="3989412"/>
            <a:ext cx="276225" cy="276225"/>
          </a:xfrm>
          <a:prstGeom prst="ellipse">
            <a:avLst/>
          </a:prstGeom>
          <a:solidFill>
            <a:srgbClr val="FFEDD4"/>
          </a:solidFill>
        </p:spPr>
      </p:sp>
      <p:sp>
        <p:nvSpPr>
          <p:cNvPr id="18" name="Shape 16"/>
          <p:cNvSpPr/>
          <p:nvPr/>
        </p:nvSpPr>
        <p:spPr>
          <a:xfrm>
            <a:off x="910010" y="4072756"/>
            <a:ext cx="109537" cy="109537"/>
          </a:xfrm>
          <a:prstGeom prst="ellipse">
            <a:avLst/>
          </a:prstGeom>
          <a:solidFill>
            <a:srgbClr val="FF8904"/>
          </a:solidFill>
        </p:spPr>
      </p:sp>
      <p:sp>
        <p:nvSpPr>
          <p:cNvPr id="19" name="Text 17"/>
          <p:cNvSpPr/>
          <p:nvPr/>
        </p:nvSpPr>
        <p:spPr>
          <a:xfrm>
            <a:off x="1284759" y="3984501"/>
            <a:ext cx="2105099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DevOps Realities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1284759" y="4309467"/>
            <a:ext cx="8461578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Seamlessly switching between a personal PC and a workstation via Git while carefully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managing API keys and overriding GitHub's secret scanning limits.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080512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8 — TAKEAWAYS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6225183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Lessons from the Trenches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80700" y="1232408"/>
            <a:ext cx="3838575" cy="3652838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7633" y="1420862"/>
            <a:ext cx="2374612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ML REALITY CHECK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7633" y="1609799"/>
            <a:ext cx="1862577" cy="895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b="1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5040" dirty="0"/>
          </a:p>
        </p:txBody>
      </p:sp>
      <p:sp>
        <p:nvSpPr>
          <p:cNvPr id="9" name="Text 7"/>
          <p:cNvSpPr/>
          <p:nvPr/>
        </p:nvSpPr>
        <p:spPr>
          <a:xfrm>
            <a:off x="2353568" y="1757437"/>
            <a:ext cx="2227957" cy="526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ML work is Data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827633" y="2751906"/>
            <a:ext cx="3979113" cy="11488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Finding, cleaning, and managing data is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bulk of the job. The model training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itself? That's the easy part. This is the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industry's best-kept secret.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5914" y="1232408"/>
            <a:ext cx="3838575" cy="3652838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33963" y="1420862"/>
            <a:ext cx="2070370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 GROWTH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34265" y="1946801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>
            <a:endParaRPr lang="en-GB" altLang="en-US"/>
          </a:p>
        </p:txBody>
      </p:sp>
      <p:sp>
        <p:nvSpPr>
          <p:cNvPr id="14" name="Text 12"/>
          <p:cNvSpPr/>
          <p:nvPr/>
        </p:nvSpPr>
        <p:spPr>
          <a:xfrm>
            <a:off x="5216798" y="1757437"/>
            <a:ext cx="3989464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Transitioned from IT theory to practical,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real-world AI pipelines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34265" y="2649776"/>
            <a:ext cx="47625" cy="47625"/>
          </a:xfrm>
          <a:prstGeom prst="ellipse">
            <a:avLst/>
          </a:prstGeom>
          <a:solidFill>
            <a:srgbClr val="1E40AF"/>
          </a:solidFill>
        </p:spPr>
        <p:txBody>
          <a:bodyPr/>
          <a:p>
            <a:endParaRPr lang="en-GB" altLang="en-US"/>
          </a:p>
        </p:txBody>
      </p:sp>
      <p:sp>
        <p:nvSpPr>
          <p:cNvPr id="16" name="Text 14"/>
          <p:cNvSpPr/>
          <p:nvPr/>
        </p:nvSpPr>
        <p:spPr>
          <a:xfrm>
            <a:off x="5216798" y="2454697"/>
            <a:ext cx="2876684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Learned to work with messy,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unstructured data at 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34265" y="3322270"/>
            <a:ext cx="47625" cy="476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18" name="Text 16"/>
          <p:cNvSpPr/>
          <p:nvPr/>
        </p:nvSpPr>
        <p:spPr>
          <a:xfrm>
            <a:off x="5216798" y="3151956"/>
            <a:ext cx="3509739" cy="8515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professional DevOps habits —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version control, environment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548580" y="313358"/>
            <a:ext cx="3029530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080" b="1" kern="0" spc="216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8 — NEXT STEPS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562794"/>
            <a:ext cx="389321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Looking Forward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547613" y="1230362"/>
            <a:ext cx="276225" cy="276225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7" name="Text 5"/>
          <p:cNvSpPr/>
          <p:nvPr/>
        </p:nvSpPr>
        <p:spPr>
          <a:xfrm>
            <a:off x="658192" y="1263476"/>
            <a:ext cx="128736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0963" y="1557375"/>
            <a:ext cx="9525" cy="2681288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9" name="Shape 7"/>
          <p:cNvSpPr/>
          <p:nvPr/>
        </p:nvSpPr>
        <p:spPr>
          <a:xfrm>
            <a:off x="547613" y="4289450"/>
            <a:ext cx="276225" cy="276225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0" name="Text 8"/>
          <p:cNvSpPr/>
          <p:nvPr/>
        </p:nvSpPr>
        <p:spPr>
          <a:xfrm>
            <a:off x="643905" y="4322564"/>
            <a:ext cx="165787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98203" y="1230771"/>
            <a:ext cx="7496175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6214" y="1395115"/>
            <a:ext cx="2561898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300" b="1" kern="0" spc="65" dirty="0">
                <a:solidFill>
                  <a:srgbClr val="1E40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IMMEDIATE NEXT STEP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6214" y="1723876"/>
            <a:ext cx="3754874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Fine-Tuning the NLLB Model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1376214" y="2086496"/>
            <a:ext cx="8913927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Feeding our 380K+ dataset into the NLLB model to begin the fine-tuning phase — teaching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model our curated Amharic–English pairs.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8203" y="2974591"/>
            <a:ext cx="7496175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4763">
            <a:solidFill>
              <a:srgbClr val="F3F4F6"/>
            </a:solidFill>
            <a:prstDash val="solid"/>
          </a:ln>
          <a:effectLst>
            <a:outerShdw blurRad="14288" dist="4763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6214" y="3138934"/>
            <a:ext cx="1241517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5"/>
              </a:spcAft>
              <a:buNone/>
            </a:pPr>
            <a:r>
              <a:rPr lang="en-US" sz="1300" b="1" kern="0" spc="65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 GAME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6214" y="3467695"/>
            <a:ext cx="2991803" cy="280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58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as an API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1376214" y="3830315"/>
            <a:ext cx="8027901" cy="554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Packaging the trained model inside a FastAPI backend to deploy as an interactive</a:t>
            </a:r>
            <a:endParaRPr lang="en-US" sz="12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translation tool accessible to other apps.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4" name="Text 2"/>
          <p:cNvSpPr/>
          <p:nvPr/>
        </p:nvSpPr>
        <p:spPr>
          <a:xfrm>
            <a:off x="1618543" y="932408"/>
            <a:ext cx="5906914" cy="2047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1150" b="1" kern="0" spc="288" dirty="0">
                <a:solidFill>
                  <a:srgbClr val="3B82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AMHARIC–ENGLISH NMT — DATA MILESTONE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43400" y="1250491"/>
            <a:ext cx="457200" cy="1428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2687404" y="1376735"/>
            <a:ext cx="3769191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810"/>
              </a:spcAft>
              <a:buNone/>
            </a:pPr>
            <a:r>
              <a:rPr lang="en-US" sz="4320" b="1" kern="0" spc="-108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320" dirty="0"/>
          </a:p>
        </p:txBody>
      </p:sp>
      <p:sp>
        <p:nvSpPr>
          <p:cNvPr id="7" name="Text 5"/>
          <p:cNvSpPr/>
          <p:nvPr/>
        </p:nvSpPr>
        <p:spPr>
          <a:xfrm>
            <a:off x="1462032" y="2217762"/>
            <a:ext cx="6219862" cy="30956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2025"/>
              </a:spcAft>
              <a:buNone/>
            </a:pPr>
            <a:r>
              <a:rPr lang="en-US" sz="173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I'd love to take any questions or hear your feedback.</a:t>
            </a:r>
            <a:endParaRPr lang="en-US" sz="1730" dirty="0"/>
          </a:p>
        </p:txBody>
      </p:sp>
      <p:sp>
        <p:nvSpPr>
          <p:cNvPr id="16" name="Shape 14"/>
          <p:cNvSpPr/>
          <p:nvPr/>
        </p:nvSpPr>
        <p:spPr>
          <a:xfrm>
            <a:off x="4342765" y="2948699"/>
            <a:ext cx="457200" cy="1428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7" name="Text 15"/>
          <p:cNvSpPr/>
          <p:nvPr/>
        </p:nvSpPr>
        <p:spPr>
          <a:xfrm>
            <a:off x="2704538" y="3214023"/>
            <a:ext cx="3734849" cy="257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810"/>
              </a:spcBef>
              <a:buNone/>
            </a:pPr>
            <a:r>
              <a:rPr lang="en-US" sz="144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Yohannes zewde · IT Student &amp; ML Intern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0" y="5113809"/>
            <a:ext cx="9144000" cy="28575"/>
          </a:xfrm>
          <a:prstGeom prst="rect">
            <a:avLst/>
          </a:prstGeom>
          <a:solidFill>
            <a:srgbClr val="1E40AF">
              <a:alpha val="20000"/>
            </a:srgbClr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2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3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4.xml><?xml version="1.0" encoding="utf-8"?>
<p:tagLst xmlns:p="http://schemas.openxmlformats.org/presentationml/2006/main">
  <p:tag name="KSO_WM_DIAGRAM_VIRTUALLY_FRAME" val="{&quot;height&quot;:311.12503937007875,&quot;left&quot;:260.4345669291339,&quot;top&quot;:97.03999999999999,&quot;width&quot;:424.6137007874016}"/>
</p:tagLst>
</file>

<file path=ppt/tags/tag5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6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7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8.xml><?xml version="1.0" encoding="utf-8"?>
<p:tagLst xmlns:p="http://schemas.openxmlformats.org/presentationml/2006/main">
  <p:tag name="KSO_WM_DIAGRAM_VIRTUALLY_FRAME" val="{&quot;height&quot;:311.12503937007875,&quot;left&quot;:231.2,&quot;top&quot;:97.03999999999999,&quot;width&quot;:453.84826771653553}"/>
</p:tagLst>
</file>

<file path=ppt/tags/tag9.xml><?xml version="1.0" encoding="utf-8"?>
<p:tagLst xmlns:p="http://schemas.openxmlformats.org/presentationml/2006/main">
  <p:tag name="KSO_WM_DIAGRAM_VIRTUALLY_FRAME" val="{&quot;height&quot;:311.12503937007875,&quot;left&quot;:260.4345669291339,&quot;top&quot;:97.03999999999999,&quot;width&quot;:424.6137007874016}"/>
</p:tagLst>
</file>

<file path=ppt/tags/tag10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11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12.xml><?xml version="1.0" encoding="utf-8"?>
<p:tagLst xmlns:p="http://schemas.openxmlformats.org/presentationml/2006/main">
  <p:tag name="KSO_WM_DIAGRAM_VIRTUALLY_FRAME" val="{&quot;height&quot;:311.12503937007875,&quot;left&quot;:50.19464566929134,&quot;top&quot;:97.03999999999999,&quot;width&quot;:634.8536220472441}"/>
</p:tagLst>
</file>

<file path=ppt/tags/tag13.xml><?xml version="1.0" encoding="utf-8"?>
<p:tagLst xmlns:p="http://schemas.openxmlformats.org/presentationml/2006/main">
  <p:tag name="KSO_WM_DIAGRAM_VIRTUALLY_FRAME" val="{&quot;height&quot;:311.12503937007875,&quot;left&quot;:231.2,&quot;top&quot;:97.03999999999999,&quot;width&quot;:453.84826771653553}"/>
</p:tagLst>
</file>

<file path=ppt/tags/tag14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5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6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7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8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19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20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ags/tag21.xml><?xml version="1.0" encoding="utf-8"?>
<p:tagLst xmlns:p="http://schemas.openxmlformats.org/presentationml/2006/main">
  <p:tag name="KSO_WM_DIAGRAM_VIRTUALLY_FRAME" val="{&quot;height&quot;:240.37503937007872,&quot;left&quot;:426.1,&quot;top&quot;:122.54881889763779,&quot;width&quot;:263.67559055118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7674</Words>
  <Application>WPS Presentation</Application>
  <PresentationFormat>On-screen Show (16:9)</PresentationFormat>
  <Paragraphs>464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9" baseType="lpstr">
      <vt:lpstr>Arial</vt:lpstr>
      <vt:lpstr>SimSun</vt:lpstr>
      <vt:lpstr>Wingdings</vt:lpstr>
      <vt:lpstr>Poppins</vt:lpstr>
      <vt:lpstr>Segoe Print</vt:lpstr>
      <vt:lpstr>Poppins</vt:lpstr>
      <vt:lpstr>Poppins</vt:lpstr>
      <vt:lpstr>Source Sans 3</vt:lpstr>
      <vt:lpstr>Source Sans 3</vt:lpstr>
      <vt:lpstr>Source Sans 3</vt:lpstr>
      <vt:lpstr>Calibri</vt:lpstr>
      <vt:lpstr>MingLiU-ExtB</vt:lpstr>
      <vt:lpstr>Microsoft YaHei</vt:lpstr>
      <vt:lpstr>Arial Unicode MS</vt:lpstr>
      <vt:lpstr>Bahnschrift Condensed</vt:lpstr>
      <vt:lpstr>Bahnschrift SemiLight SemiCondensed</vt:lpstr>
      <vt:lpstr>Berlin Sans FB Demi</vt:lpstr>
      <vt:lpstr>Cascadia Mono</vt:lpstr>
      <vt:lpstr>Cascadia Mono ExtraLight</vt:lpstr>
      <vt:lpstr>Rockwell Condensed</vt:lpstr>
      <vt:lpstr>Segoe UI Emoji</vt:lpstr>
      <vt:lpstr>Sitka Text Semibold</vt:lpstr>
      <vt:lpstr>Sylfaen</vt:lpstr>
      <vt:lpstr>Tw Cen MT Condensed</vt:lpstr>
      <vt:lpstr>Times New Roman</vt:lpstr>
      <vt:lpstr>Wingdings</vt:lpstr>
      <vt:lpstr>Bahnschrift Light</vt:lpstr>
      <vt:lpstr>Arial Narrow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DELL</cp:lastModifiedBy>
  <cp:revision>3</cp:revision>
  <dcterms:created xsi:type="dcterms:W3CDTF">2026-07-05T19:12:00Z</dcterms:created>
  <dcterms:modified xsi:type="dcterms:W3CDTF">2026-07-06T10:46:10Z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4BEC668571D046A1BF6CF7793DB630A5_13</vt:lpwstr>
  </property>
  <property fmtid="{D5CDD505-2E9C-101B-9397-08002B2CF9AE}" pid="3" name="KSOProductBuildVer">
    <vt:lpwstr>2057-12.2.0.23206</vt:lpwstr>
  </property>
</Properties>
</file>